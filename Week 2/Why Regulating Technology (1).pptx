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61" r:id="rId3"/>
    <p:sldId id="257" r:id="rId4"/>
    <p:sldId id="263" r:id="rId5"/>
    <p:sldId id="264" r:id="rId6"/>
    <p:sldId id="265" r:id="rId7"/>
    <p:sldId id="266" r:id="rId8"/>
    <p:sldId id="260" r:id="rId9"/>
    <p:sldId id="267" r:id="rId10"/>
    <p:sldId id="258" r:id="rId11"/>
    <p:sldId id="259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06" autoAdjust="0"/>
    <p:restoredTop sz="94660"/>
  </p:normalViewPr>
  <p:slideViewPr>
    <p:cSldViewPr snapToGrid="0">
      <p:cViewPr varScale="1">
        <p:scale>
          <a:sx n="78" d="100"/>
          <a:sy n="78" d="100"/>
        </p:scale>
        <p:origin x="835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10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10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A41D72A-DFE1-4DED-9705-BDCD83864014}" type="doc">
      <dgm:prSet loTypeId="urn:microsoft.com/office/officeart/2005/8/layout/hierarchy1" loCatId="hierarchy" qsTypeId="urn:microsoft.com/office/officeart/2005/8/quickstyle/simple1" qsCatId="simple" csTypeId="urn:microsoft.com/office/officeart/2005/8/colors/accent3_2" csCatId="accent3"/>
      <dgm:spPr/>
      <dgm:t>
        <a:bodyPr/>
        <a:lstStyle/>
        <a:p>
          <a:endParaRPr lang="en-US"/>
        </a:p>
      </dgm:t>
    </dgm:pt>
    <dgm:pt modelId="{580B2626-A4A2-4335-9C26-94F23AC8829C}">
      <dgm:prSet/>
      <dgm:spPr/>
      <dgm:t>
        <a:bodyPr/>
        <a:lstStyle/>
        <a:p>
          <a:r>
            <a:rPr lang="en-GB"/>
            <a:t>Deepfake</a:t>
          </a:r>
          <a:endParaRPr lang="en-US"/>
        </a:p>
      </dgm:t>
    </dgm:pt>
    <dgm:pt modelId="{5CF28067-16D7-46F5-89F1-AF0E240B404D}" type="parTrans" cxnId="{6A985AE6-1D12-4906-9576-C95CE8F1CB58}">
      <dgm:prSet/>
      <dgm:spPr/>
      <dgm:t>
        <a:bodyPr/>
        <a:lstStyle/>
        <a:p>
          <a:endParaRPr lang="en-US"/>
        </a:p>
      </dgm:t>
    </dgm:pt>
    <dgm:pt modelId="{CCADD431-2E2A-4390-BEC7-B3731B0F60DD}" type="sibTrans" cxnId="{6A985AE6-1D12-4906-9576-C95CE8F1CB58}">
      <dgm:prSet/>
      <dgm:spPr/>
      <dgm:t>
        <a:bodyPr/>
        <a:lstStyle/>
        <a:p>
          <a:endParaRPr lang="en-US"/>
        </a:p>
      </dgm:t>
    </dgm:pt>
    <dgm:pt modelId="{F20D5B95-4D89-445C-9D57-D3D22188F96C}">
      <dgm:prSet/>
      <dgm:spPr/>
      <dgm:t>
        <a:bodyPr/>
        <a:lstStyle/>
        <a:p>
          <a:r>
            <a:rPr lang="en-GB"/>
            <a:t>Privacy </a:t>
          </a:r>
          <a:endParaRPr lang="en-US"/>
        </a:p>
      </dgm:t>
    </dgm:pt>
    <dgm:pt modelId="{C0445C8C-41BC-4599-B0EA-29883F0FBFCF}" type="parTrans" cxnId="{F2D1EB83-73FE-4CFB-B35C-7986E74F4D36}">
      <dgm:prSet/>
      <dgm:spPr/>
      <dgm:t>
        <a:bodyPr/>
        <a:lstStyle/>
        <a:p>
          <a:endParaRPr lang="en-US"/>
        </a:p>
      </dgm:t>
    </dgm:pt>
    <dgm:pt modelId="{172A3E9E-2CBC-4CD6-88E7-13CF72BFF199}" type="sibTrans" cxnId="{F2D1EB83-73FE-4CFB-B35C-7986E74F4D36}">
      <dgm:prSet/>
      <dgm:spPr/>
      <dgm:t>
        <a:bodyPr/>
        <a:lstStyle/>
        <a:p>
          <a:endParaRPr lang="en-US"/>
        </a:p>
      </dgm:t>
    </dgm:pt>
    <dgm:pt modelId="{33311F7E-12C2-45A3-BF21-439D515273EB}">
      <dgm:prSet/>
      <dgm:spPr/>
      <dgm:t>
        <a:bodyPr/>
        <a:lstStyle/>
        <a:p>
          <a:r>
            <a:rPr lang="en-GB"/>
            <a:t>Water and Natural Resources</a:t>
          </a:r>
          <a:endParaRPr lang="en-US"/>
        </a:p>
      </dgm:t>
    </dgm:pt>
    <dgm:pt modelId="{7DECB6D4-B3C5-4BF9-BD92-CA888E1A3A14}" type="parTrans" cxnId="{481453AF-1169-4B7E-A071-084A537051BE}">
      <dgm:prSet/>
      <dgm:spPr/>
      <dgm:t>
        <a:bodyPr/>
        <a:lstStyle/>
        <a:p>
          <a:endParaRPr lang="en-US"/>
        </a:p>
      </dgm:t>
    </dgm:pt>
    <dgm:pt modelId="{12AAD13E-51D3-4B21-B892-94482B706A49}" type="sibTrans" cxnId="{481453AF-1169-4B7E-A071-084A537051BE}">
      <dgm:prSet/>
      <dgm:spPr/>
      <dgm:t>
        <a:bodyPr/>
        <a:lstStyle/>
        <a:p>
          <a:endParaRPr lang="en-US"/>
        </a:p>
      </dgm:t>
    </dgm:pt>
    <dgm:pt modelId="{02CCE85C-5317-4327-BD74-5C9BE7A67E0B}">
      <dgm:prSet/>
      <dgm:spPr/>
      <dgm:t>
        <a:bodyPr/>
        <a:lstStyle/>
        <a:p>
          <a:r>
            <a:rPr lang="en-GB"/>
            <a:t>Nudges</a:t>
          </a:r>
          <a:endParaRPr lang="en-US"/>
        </a:p>
      </dgm:t>
    </dgm:pt>
    <dgm:pt modelId="{75654DCB-E479-4D84-A872-1C564CA505B1}" type="parTrans" cxnId="{DF5F6918-35CD-45F6-95EE-3598FB1D0854}">
      <dgm:prSet/>
      <dgm:spPr/>
      <dgm:t>
        <a:bodyPr/>
        <a:lstStyle/>
        <a:p>
          <a:endParaRPr lang="en-US"/>
        </a:p>
      </dgm:t>
    </dgm:pt>
    <dgm:pt modelId="{91D214D5-69BB-4B58-98D5-82FDACF29AE1}" type="sibTrans" cxnId="{DF5F6918-35CD-45F6-95EE-3598FB1D0854}">
      <dgm:prSet/>
      <dgm:spPr/>
      <dgm:t>
        <a:bodyPr/>
        <a:lstStyle/>
        <a:p>
          <a:endParaRPr lang="en-US"/>
        </a:p>
      </dgm:t>
    </dgm:pt>
    <dgm:pt modelId="{75C22B14-A303-4C59-A12D-170192333DC8}" type="pres">
      <dgm:prSet presAssocID="{BA41D72A-DFE1-4DED-9705-BDCD83864014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B4095585-4F01-4284-8664-492016BBE2B1}" type="pres">
      <dgm:prSet presAssocID="{580B2626-A4A2-4335-9C26-94F23AC8829C}" presName="hierRoot1" presStyleCnt="0"/>
      <dgm:spPr/>
    </dgm:pt>
    <dgm:pt modelId="{F1A0CDA9-DADB-4BD8-A6C6-F9113A87E539}" type="pres">
      <dgm:prSet presAssocID="{580B2626-A4A2-4335-9C26-94F23AC8829C}" presName="composite" presStyleCnt="0"/>
      <dgm:spPr/>
    </dgm:pt>
    <dgm:pt modelId="{0B4A9BE7-74C0-4C4A-800D-2B085771CA72}" type="pres">
      <dgm:prSet presAssocID="{580B2626-A4A2-4335-9C26-94F23AC8829C}" presName="background" presStyleLbl="node0" presStyleIdx="0" presStyleCnt="4"/>
      <dgm:spPr/>
    </dgm:pt>
    <dgm:pt modelId="{02A4C1AB-D2B1-4130-97EE-8E4A9799BFAF}" type="pres">
      <dgm:prSet presAssocID="{580B2626-A4A2-4335-9C26-94F23AC8829C}" presName="text" presStyleLbl="fgAcc0" presStyleIdx="0" presStyleCnt="4">
        <dgm:presLayoutVars>
          <dgm:chPref val="3"/>
        </dgm:presLayoutVars>
      </dgm:prSet>
      <dgm:spPr/>
    </dgm:pt>
    <dgm:pt modelId="{2A3972A9-729F-4CA0-AF00-0D7D6E214214}" type="pres">
      <dgm:prSet presAssocID="{580B2626-A4A2-4335-9C26-94F23AC8829C}" presName="hierChild2" presStyleCnt="0"/>
      <dgm:spPr/>
    </dgm:pt>
    <dgm:pt modelId="{448E57E9-7D4F-4BAE-99E6-900747C7A4A6}" type="pres">
      <dgm:prSet presAssocID="{F20D5B95-4D89-445C-9D57-D3D22188F96C}" presName="hierRoot1" presStyleCnt="0"/>
      <dgm:spPr/>
    </dgm:pt>
    <dgm:pt modelId="{B5DBF01B-39C6-408B-B6E7-28768182FD2D}" type="pres">
      <dgm:prSet presAssocID="{F20D5B95-4D89-445C-9D57-D3D22188F96C}" presName="composite" presStyleCnt="0"/>
      <dgm:spPr/>
    </dgm:pt>
    <dgm:pt modelId="{C2671B7E-532E-4151-81EE-B6C8D311C7F4}" type="pres">
      <dgm:prSet presAssocID="{F20D5B95-4D89-445C-9D57-D3D22188F96C}" presName="background" presStyleLbl="node0" presStyleIdx="1" presStyleCnt="4"/>
      <dgm:spPr/>
    </dgm:pt>
    <dgm:pt modelId="{1F944105-590D-40BD-9560-94903D923476}" type="pres">
      <dgm:prSet presAssocID="{F20D5B95-4D89-445C-9D57-D3D22188F96C}" presName="text" presStyleLbl="fgAcc0" presStyleIdx="1" presStyleCnt="4">
        <dgm:presLayoutVars>
          <dgm:chPref val="3"/>
        </dgm:presLayoutVars>
      </dgm:prSet>
      <dgm:spPr/>
    </dgm:pt>
    <dgm:pt modelId="{FE5C6528-2C7D-49F5-91C5-A3FF5E9755E9}" type="pres">
      <dgm:prSet presAssocID="{F20D5B95-4D89-445C-9D57-D3D22188F96C}" presName="hierChild2" presStyleCnt="0"/>
      <dgm:spPr/>
    </dgm:pt>
    <dgm:pt modelId="{6602B904-46C3-4958-A6E5-6D885EE03056}" type="pres">
      <dgm:prSet presAssocID="{33311F7E-12C2-45A3-BF21-439D515273EB}" presName="hierRoot1" presStyleCnt="0"/>
      <dgm:spPr/>
    </dgm:pt>
    <dgm:pt modelId="{E2EF9BB6-A25A-45E5-AE8D-1CF25C8A0B6E}" type="pres">
      <dgm:prSet presAssocID="{33311F7E-12C2-45A3-BF21-439D515273EB}" presName="composite" presStyleCnt="0"/>
      <dgm:spPr/>
    </dgm:pt>
    <dgm:pt modelId="{DA8C35A8-906D-4D93-8DBC-D7A402A8F6A3}" type="pres">
      <dgm:prSet presAssocID="{33311F7E-12C2-45A3-BF21-439D515273EB}" presName="background" presStyleLbl="node0" presStyleIdx="2" presStyleCnt="4"/>
      <dgm:spPr/>
    </dgm:pt>
    <dgm:pt modelId="{B1B0DB28-AB14-41D3-A7A8-242B0427C304}" type="pres">
      <dgm:prSet presAssocID="{33311F7E-12C2-45A3-BF21-439D515273EB}" presName="text" presStyleLbl="fgAcc0" presStyleIdx="2" presStyleCnt="4">
        <dgm:presLayoutVars>
          <dgm:chPref val="3"/>
        </dgm:presLayoutVars>
      </dgm:prSet>
      <dgm:spPr/>
    </dgm:pt>
    <dgm:pt modelId="{8BE6CB3F-D5B2-45C6-A7C8-685D099E3FF2}" type="pres">
      <dgm:prSet presAssocID="{33311F7E-12C2-45A3-BF21-439D515273EB}" presName="hierChild2" presStyleCnt="0"/>
      <dgm:spPr/>
    </dgm:pt>
    <dgm:pt modelId="{B8C3E463-59FA-48E8-B4FF-5814A2088CB3}" type="pres">
      <dgm:prSet presAssocID="{02CCE85C-5317-4327-BD74-5C9BE7A67E0B}" presName="hierRoot1" presStyleCnt="0"/>
      <dgm:spPr/>
    </dgm:pt>
    <dgm:pt modelId="{86E7640E-4392-4226-90EA-8DF35BA807A9}" type="pres">
      <dgm:prSet presAssocID="{02CCE85C-5317-4327-BD74-5C9BE7A67E0B}" presName="composite" presStyleCnt="0"/>
      <dgm:spPr/>
    </dgm:pt>
    <dgm:pt modelId="{79E1F0A8-8CAA-4FFE-A29F-8F8DC21694C5}" type="pres">
      <dgm:prSet presAssocID="{02CCE85C-5317-4327-BD74-5C9BE7A67E0B}" presName="background" presStyleLbl="node0" presStyleIdx="3" presStyleCnt="4"/>
      <dgm:spPr/>
    </dgm:pt>
    <dgm:pt modelId="{53584ABB-3834-4150-9CD3-0AD56E1B7CC5}" type="pres">
      <dgm:prSet presAssocID="{02CCE85C-5317-4327-BD74-5C9BE7A67E0B}" presName="text" presStyleLbl="fgAcc0" presStyleIdx="3" presStyleCnt="4">
        <dgm:presLayoutVars>
          <dgm:chPref val="3"/>
        </dgm:presLayoutVars>
      </dgm:prSet>
      <dgm:spPr/>
    </dgm:pt>
    <dgm:pt modelId="{2194E11C-B785-4EDE-AA2B-6829E3BAFCD8}" type="pres">
      <dgm:prSet presAssocID="{02CCE85C-5317-4327-BD74-5C9BE7A67E0B}" presName="hierChild2" presStyleCnt="0"/>
      <dgm:spPr/>
    </dgm:pt>
  </dgm:ptLst>
  <dgm:cxnLst>
    <dgm:cxn modelId="{4F800016-BAD5-4BB7-9D7A-8CEA14540A39}" type="presOf" srcId="{F20D5B95-4D89-445C-9D57-D3D22188F96C}" destId="{1F944105-590D-40BD-9560-94903D923476}" srcOrd="0" destOrd="0" presId="urn:microsoft.com/office/officeart/2005/8/layout/hierarchy1"/>
    <dgm:cxn modelId="{DF5F6918-35CD-45F6-95EE-3598FB1D0854}" srcId="{BA41D72A-DFE1-4DED-9705-BDCD83864014}" destId="{02CCE85C-5317-4327-BD74-5C9BE7A67E0B}" srcOrd="3" destOrd="0" parTransId="{75654DCB-E479-4D84-A872-1C564CA505B1}" sibTransId="{91D214D5-69BB-4B58-98D5-82FDACF29AE1}"/>
    <dgm:cxn modelId="{B12D4248-FC09-4F5A-8D5A-D9874A9E2283}" type="presOf" srcId="{02CCE85C-5317-4327-BD74-5C9BE7A67E0B}" destId="{53584ABB-3834-4150-9CD3-0AD56E1B7CC5}" srcOrd="0" destOrd="0" presId="urn:microsoft.com/office/officeart/2005/8/layout/hierarchy1"/>
    <dgm:cxn modelId="{EE7E656E-8E4C-430A-9A14-2177100D1164}" type="presOf" srcId="{580B2626-A4A2-4335-9C26-94F23AC8829C}" destId="{02A4C1AB-D2B1-4130-97EE-8E4A9799BFAF}" srcOrd="0" destOrd="0" presId="urn:microsoft.com/office/officeart/2005/8/layout/hierarchy1"/>
    <dgm:cxn modelId="{F2D1EB83-73FE-4CFB-B35C-7986E74F4D36}" srcId="{BA41D72A-DFE1-4DED-9705-BDCD83864014}" destId="{F20D5B95-4D89-445C-9D57-D3D22188F96C}" srcOrd="1" destOrd="0" parTransId="{C0445C8C-41BC-4599-B0EA-29883F0FBFCF}" sibTransId="{172A3E9E-2CBC-4CD6-88E7-13CF72BFF199}"/>
    <dgm:cxn modelId="{481453AF-1169-4B7E-A071-084A537051BE}" srcId="{BA41D72A-DFE1-4DED-9705-BDCD83864014}" destId="{33311F7E-12C2-45A3-BF21-439D515273EB}" srcOrd="2" destOrd="0" parTransId="{7DECB6D4-B3C5-4BF9-BD92-CA888E1A3A14}" sibTransId="{12AAD13E-51D3-4B21-B892-94482B706A49}"/>
    <dgm:cxn modelId="{CB8381C2-EB3A-4EBA-9972-06E6481238ED}" type="presOf" srcId="{33311F7E-12C2-45A3-BF21-439D515273EB}" destId="{B1B0DB28-AB14-41D3-A7A8-242B0427C304}" srcOrd="0" destOrd="0" presId="urn:microsoft.com/office/officeart/2005/8/layout/hierarchy1"/>
    <dgm:cxn modelId="{4FF82FC5-A84B-4DF9-ADAB-22B9E66A9D17}" type="presOf" srcId="{BA41D72A-DFE1-4DED-9705-BDCD83864014}" destId="{75C22B14-A303-4C59-A12D-170192333DC8}" srcOrd="0" destOrd="0" presId="urn:microsoft.com/office/officeart/2005/8/layout/hierarchy1"/>
    <dgm:cxn modelId="{6A985AE6-1D12-4906-9576-C95CE8F1CB58}" srcId="{BA41D72A-DFE1-4DED-9705-BDCD83864014}" destId="{580B2626-A4A2-4335-9C26-94F23AC8829C}" srcOrd="0" destOrd="0" parTransId="{5CF28067-16D7-46F5-89F1-AF0E240B404D}" sibTransId="{CCADD431-2E2A-4390-BEC7-B3731B0F60DD}"/>
    <dgm:cxn modelId="{A0D1F821-9B03-47F1-A108-CB182E3E2180}" type="presParOf" srcId="{75C22B14-A303-4C59-A12D-170192333DC8}" destId="{B4095585-4F01-4284-8664-492016BBE2B1}" srcOrd="0" destOrd="0" presId="urn:microsoft.com/office/officeart/2005/8/layout/hierarchy1"/>
    <dgm:cxn modelId="{DB57A796-B2E3-4166-A25D-4963E156CEDA}" type="presParOf" srcId="{B4095585-4F01-4284-8664-492016BBE2B1}" destId="{F1A0CDA9-DADB-4BD8-A6C6-F9113A87E539}" srcOrd="0" destOrd="0" presId="urn:microsoft.com/office/officeart/2005/8/layout/hierarchy1"/>
    <dgm:cxn modelId="{21F03805-4E6E-49F3-B0D5-BD75C500E279}" type="presParOf" srcId="{F1A0CDA9-DADB-4BD8-A6C6-F9113A87E539}" destId="{0B4A9BE7-74C0-4C4A-800D-2B085771CA72}" srcOrd="0" destOrd="0" presId="urn:microsoft.com/office/officeart/2005/8/layout/hierarchy1"/>
    <dgm:cxn modelId="{C12183AA-80C8-4C6B-AB80-368B2B96A770}" type="presParOf" srcId="{F1A0CDA9-DADB-4BD8-A6C6-F9113A87E539}" destId="{02A4C1AB-D2B1-4130-97EE-8E4A9799BFAF}" srcOrd="1" destOrd="0" presId="urn:microsoft.com/office/officeart/2005/8/layout/hierarchy1"/>
    <dgm:cxn modelId="{4D20FBBE-6C38-426D-96B9-69E436359BDC}" type="presParOf" srcId="{B4095585-4F01-4284-8664-492016BBE2B1}" destId="{2A3972A9-729F-4CA0-AF00-0D7D6E214214}" srcOrd="1" destOrd="0" presId="urn:microsoft.com/office/officeart/2005/8/layout/hierarchy1"/>
    <dgm:cxn modelId="{6E80C397-D513-45A2-8185-77876097880C}" type="presParOf" srcId="{75C22B14-A303-4C59-A12D-170192333DC8}" destId="{448E57E9-7D4F-4BAE-99E6-900747C7A4A6}" srcOrd="1" destOrd="0" presId="urn:microsoft.com/office/officeart/2005/8/layout/hierarchy1"/>
    <dgm:cxn modelId="{9D52BEC2-DC34-4136-A22E-26C756113A82}" type="presParOf" srcId="{448E57E9-7D4F-4BAE-99E6-900747C7A4A6}" destId="{B5DBF01B-39C6-408B-B6E7-28768182FD2D}" srcOrd="0" destOrd="0" presId="urn:microsoft.com/office/officeart/2005/8/layout/hierarchy1"/>
    <dgm:cxn modelId="{85A7A6CA-3468-47F2-8416-ED50706F2781}" type="presParOf" srcId="{B5DBF01B-39C6-408B-B6E7-28768182FD2D}" destId="{C2671B7E-532E-4151-81EE-B6C8D311C7F4}" srcOrd="0" destOrd="0" presId="urn:microsoft.com/office/officeart/2005/8/layout/hierarchy1"/>
    <dgm:cxn modelId="{B73A39CC-2A4A-4D7E-921D-2006241C8FBC}" type="presParOf" srcId="{B5DBF01B-39C6-408B-B6E7-28768182FD2D}" destId="{1F944105-590D-40BD-9560-94903D923476}" srcOrd="1" destOrd="0" presId="urn:microsoft.com/office/officeart/2005/8/layout/hierarchy1"/>
    <dgm:cxn modelId="{008750B7-8EBB-45C8-AE88-654BD6C57234}" type="presParOf" srcId="{448E57E9-7D4F-4BAE-99E6-900747C7A4A6}" destId="{FE5C6528-2C7D-49F5-91C5-A3FF5E9755E9}" srcOrd="1" destOrd="0" presId="urn:microsoft.com/office/officeart/2005/8/layout/hierarchy1"/>
    <dgm:cxn modelId="{90E24370-CC3B-4D75-B864-9F6F7B96AC68}" type="presParOf" srcId="{75C22B14-A303-4C59-A12D-170192333DC8}" destId="{6602B904-46C3-4958-A6E5-6D885EE03056}" srcOrd="2" destOrd="0" presId="urn:microsoft.com/office/officeart/2005/8/layout/hierarchy1"/>
    <dgm:cxn modelId="{56EC1692-0A2D-443A-8312-72C10533BD3C}" type="presParOf" srcId="{6602B904-46C3-4958-A6E5-6D885EE03056}" destId="{E2EF9BB6-A25A-45E5-AE8D-1CF25C8A0B6E}" srcOrd="0" destOrd="0" presId="urn:microsoft.com/office/officeart/2005/8/layout/hierarchy1"/>
    <dgm:cxn modelId="{2313FAC1-EF8C-4BA2-B7FD-56DA22B2CFEC}" type="presParOf" srcId="{E2EF9BB6-A25A-45E5-AE8D-1CF25C8A0B6E}" destId="{DA8C35A8-906D-4D93-8DBC-D7A402A8F6A3}" srcOrd="0" destOrd="0" presId="urn:microsoft.com/office/officeart/2005/8/layout/hierarchy1"/>
    <dgm:cxn modelId="{B5C82412-255B-4705-BC26-1A73EA9F4F80}" type="presParOf" srcId="{E2EF9BB6-A25A-45E5-AE8D-1CF25C8A0B6E}" destId="{B1B0DB28-AB14-41D3-A7A8-242B0427C304}" srcOrd="1" destOrd="0" presId="urn:microsoft.com/office/officeart/2005/8/layout/hierarchy1"/>
    <dgm:cxn modelId="{D69594DD-5C72-419D-9BAA-84F1731B6E44}" type="presParOf" srcId="{6602B904-46C3-4958-A6E5-6D885EE03056}" destId="{8BE6CB3F-D5B2-45C6-A7C8-685D099E3FF2}" srcOrd="1" destOrd="0" presId="urn:microsoft.com/office/officeart/2005/8/layout/hierarchy1"/>
    <dgm:cxn modelId="{6A9C3C9E-051C-47B9-9D26-A89CE11C43F3}" type="presParOf" srcId="{75C22B14-A303-4C59-A12D-170192333DC8}" destId="{B8C3E463-59FA-48E8-B4FF-5814A2088CB3}" srcOrd="3" destOrd="0" presId="urn:microsoft.com/office/officeart/2005/8/layout/hierarchy1"/>
    <dgm:cxn modelId="{7937030A-5958-4AC1-9475-3BBAD9531C4C}" type="presParOf" srcId="{B8C3E463-59FA-48E8-B4FF-5814A2088CB3}" destId="{86E7640E-4392-4226-90EA-8DF35BA807A9}" srcOrd="0" destOrd="0" presId="urn:microsoft.com/office/officeart/2005/8/layout/hierarchy1"/>
    <dgm:cxn modelId="{A74DBAF4-57CB-474E-A0E6-FA9C34F848B0}" type="presParOf" srcId="{86E7640E-4392-4226-90EA-8DF35BA807A9}" destId="{79E1F0A8-8CAA-4FFE-A29F-8F8DC21694C5}" srcOrd="0" destOrd="0" presId="urn:microsoft.com/office/officeart/2005/8/layout/hierarchy1"/>
    <dgm:cxn modelId="{92E8B10C-1427-4630-904D-5C2A9048DC8A}" type="presParOf" srcId="{86E7640E-4392-4226-90EA-8DF35BA807A9}" destId="{53584ABB-3834-4150-9CD3-0AD56E1B7CC5}" srcOrd="1" destOrd="0" presId="urn:microsoft.com/office/officeart/2005/8/layout/hierarchy1"/>
    <dgm:cxn modelId="{1D588EA8-3B7A-4095-AE67-1B3C9E193BDD}" type="presParOf" srcId="{B8C3E463-59FA-48E8-B4FF-5814A2088CB3}" destId="{2194E11C-B785-4EDE-AA2B-6829E3BAFCD8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8737BB4-9B9D-4014-BB50-185BCE26DFA1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8445AA2E-D83C-4E40-9D17-47DAA0BD8DE7}">
      <dgm:prSet/>
      <dgm:spPr/>
      <dgm:t>
        <a:bodyPr/>
        <a:lstStyle/>
        <a:p>
          <a:r>
            <a:rPr lang="en-GB" b="1"/>
            <a:t>Gender Bias</a:t>
          </a:r>
          <a:r>
            <a:rPr lang="en-GB"/>
            <a:t>: Models might associate certain professions with specific genders (e.g., "doctor" with male or "nurse" with female).</a:t>
          </a:r>
          <a:endParaRPr lang="en-US"/>
        </a:p>
      </dgm:t>
    </dgm:pt>
    <dgm:pt modelId="{279EEFC5-7D93-4407-B9B0-875ABC45F016}" type="parTrans" cxnId="{BFA61585-CBC8-43E8-9035-A63F91D628DC}">
      <dgm:prSet/>
      <dgm:spPr/>
      <dgm:t>
        <a:bodyPr/>
        <a:lstStyle/>
        <a:p>
          <a:endParaRPr lang="en-US"/>
        </a:p>
      </dgm:t>
    </dgm:pt>
    <dgm:pt modelId="{D0C9FE9D-7117-4DAB-92D0-52A03F578922}" type="sibTrans" cxnId="{BFA61585-CBC8-43E8-9035-A63F91D628DC}">
      <dgm:prSet/>
      <dgm:spPr/>
      <dgm:t>
        <a:bodyPr/>
        <a:lstStyle/>
        <a:p>
          <a:endParaRPr lang="en-US"/>
        </a:p>
      </dgm:t>
    </dgm:pt>
    <dgm:pt modelId="{FAD3DB12-2BB9-4022-845E-B3545BCD5173}">
      <dgm:prSet/>
      <dgm:spPr/>
      <dgm:t>
        <a:bodyPr/>
        <a:lstStyle/>
        <a:p>
          <a:r>
            <a:rPr lang="en-GB" b="1"/>
            <a:t>Cultural Bias</a:t>
          </a:r>
          <a:r>
            <a:rPr lang="en-GB"/>
            <a:t>: LLMs trained predominantly in English texts might overlook or misrepresent non-Western cultures.</a:t>
          </a:r>
          <a:endParaRPr lang="en-US"/>
        </a:p>
      </dgm:t>
    </dgm:pt>
    <dgm:pt modelId="{B2CA5102-BB6A-4B49-8BD7-9CCD95AB106E}" type="parTrans" cxnId="{3322C3A5-795A-42F5-B00E-222BE8AE6A4A}">
      <dgm:prSet/>
      <dgm:spPr/>
      <dgm:t>
        <a:bodyPr/>
        <a:lstStyle/>
        <a:p>
          <a:endParaRPr lang="en-US"/>
        </a:p>
      </dgm:t>
    </dgm:pt>
    <dgm:pt modelId="{DAF1774D-6E5D-4260-9924-2F17C558210E}" type="sibTrans" cxnId="{3322C3A5-795A-42F5-B00E-222BE8AE6A4A}">
      <dgm:prSet/>
      <dgm:spPr/>
      <dgm:t>
        <a:bodyPr/>
        <a:lstStyle/>
        <a:p>
          <a:endParaRPr lang="en-US"/>
        </a:p>
      </dgm:t>
    </dgm:pt>
    <dgm:pt modelId="{78E93937-0109-4F7F-911F-D7E701A4484E}">
      <dgm:prSet/>
      <dgm:spPr/>
      <dgm:t>
        <a:bodyPr/>
        <a:lstStyle/>
        <a:p>
          <a:r>
            <a:rPr lang="en-GB" b="1"/>
            <a:t>Economic Bias</a:t>
          </a:r>
          <a:r>
            <a:rPr lang="en-GB"/>
            <a:t>: The accessibility of LLM tools might favour wealthier regions, excluding underrepresented communities.</a:t>
          </a:r>
          <a:endParaRPr lang="en-US"/>
        </a:p>
      </dgm:t>
    </dgm:pt>
    <dgm:pt modelId="{89BD1E3A-975A-4F50-B3A0-82471A47B904}" type="parTrans" cxnId="{C02CDAC0-3A59-4AC5-AE74-9B47ABC4DD8A}">
      <dgm:prSet/>
      <dgm:spPr/>
      <dgm:t>
        <a:bodyPr/>
        <a:lstStyle/>
        <a:p>
          <a:endParaRPr lang="en-US"/>
        </a:p>
      </dgm:t>
    </dgm:pt>
    <dgm:pt modelId="{658C56B8-5900-4405-BF59-FE217898EA04}" type="sibTrans" cxnId="{C02CDAC0-3A59-4AC5-AE74-9B47ABC4DD8A}">
      <dgm:prSet/>
      <dgm:spPr/>
      <dgm:t>
        <a:bodyPr/>
        <a:lstStyle/>
        <a:p>
          <a:endParaRPr lang="en-US"/>
        </a:p>
      </dgm:t>
    </dgm:pt>
    <dgm:pt modelId="{5E0C5393-B1C8-475B-9CF1-EF33DC537144}" type="pres">
      <dgm:prSet presAssocID="{98737BB4-9B9D-4014-BB50-185BCE26DFA1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C80686A8-6D7A-4044-A223-10A132D58BEF}" type="pres">
      <dgm:prSet presAssocID="{8445AA2E-D83C-4E40-9D17-47DAA0BD8DE7}" presName="hierRoot1" presStyleCnt="0"/>
      <dgm:spPr/>
    </dgm:pt>
    <dgm:pt modelId="{D597BB3B-FD28-4604-AC27-ACE49330D236}" type="pres">
      <dgm:prSet presAssocID="{8445AA2E-D83C-4E40-9D17-47DAA0BD8DE7}" presName="composite" presStyleCnt="0"/>
      <dgm:spPr/>
    </dgm:pt>
    <dgm:pt modelId="{881277B0-CD9E-4700-A879-D6EB4207A74D}" type="pres">
      <dgm:prSet presAssocID="{8445AA2E-D83C-4E40-9D17-47DAA0BD8DE7}" presName="background" presStyleLbl="node0" presStyleIdx="0" presStyleCnt="3"/>
      <dgm:spPr/>
    </dgm:pt>
    <dgm:pt modelId="{F889278F-7B87-4B17-920F-5948AA8374BF}" type="pres">
      <dgm:prSet presAssocID="{8445AA2E-D83C-4E40-9D17-47DAA0BD8DE7}" presName="text" presStyleLbl="fgAcc0" presStyleIdx="0" presStyleCnt="3">
        <dgm:presLayoutVars>
          <dgm:chPref val="3"/>
        </dgm:presLayoutVars>
      </dgm:prSet>
      <dgm:spPr/>
    </dgm:pt>
    <dgm:pt modelId="{62CF4588-D1B5-46F3-B1B8-7303B04254BC}" type="pres">
      <dgm:prSet presAssocID="{8445AA2E-D83C-4E40-9D17-47DAA0BD8DE7}" presName="hierChild2" presStyleCnt="0"/>
      <dgm:spPr/>
    </dgm:pt>
    <dgm:pt modelId="{7F306BB0-5F32-48EE-9C06-B2DC6416A267}" type="pres">
      <dgm:prSet presAssocID="{FAD3DB12-2BB9-4022-845E-B3545BCD5173}" presName="hierRoot1" presStyleCnt="0"/>
      <dgm:spPr/>
    </dgm:pt>
    <dgm:pt modelId="{C6B9A06E-95F4-457E-B1B5-81B258ABA9E0}" type="pres">
      <dgm:prSet presAssocID="{FAD3DB12-2BB9-4022-845E-B3545BCD5173}" presName="composite" presStyleCnt="0"/>
      <dgm:spPr/>
    </dgm:pt>
    <dgm:pt modelId="{D4F44917-56FB-47E6-B565-4300442E5FD5}" type="pres">
      <dgm:prSet presAssocID="{FAD3DB12-2BB9-4022-845E-B3545BCD5173}" presName="background" presStyleLbl="node0" presStyleIdx="1" presStyleCnt="3"/>
      <dgm:spPr/>
    </dgm:pt>
    <dgm:pt modelId="{02E5E094-ABD0-4B0D-AA54-273B6A887520}" type="pres">
      <dgm:prSet presAssocID="{FAD3DB12-2BB9-4022-845E-B3545BCD5173}" presName="text" presStyleLbl="fgAcc0" presStyleIdx="1" presStyleCnt="3">
        <dgm:presLayoutVars>
          <dgm:chPref val="3"/>
        </dgm:presLayoutVars>
      </dgm:prSet>
      <dgm:spPr/>
    </dgm:pt>
    <dgm:pt modelId="{C86933BA-F301-410D-B7D9-3E9E63CD65C2}" type="pres">
      <dgm:prSet presAssocID="{FAD3DB12-2BB9-4022-845E-B3545BCD5173}" presName="hierChild2" presStyleCnt="0"/>
      <dgm:spPr/>
    </dgm:pt>
    <dgm:pt modelId="{C57665A1-FED1-40D1-8B42-65A32B1F3083}" type="pres">
      <dgm:prSet presAssocID="{78E93937-0109-4F7F-911F-D7E701A4484E}" presName="hierRoot1" presStyleCnt="0"/>
      <dgm:spPr/>
    </dgm:pt>
    <dgm:pt modelId="{9E527C9F-E6C5-452D-873C-FBCAC080A390}" type="pres">
      <dgm:prSet presAssocID="{78E93937-0109-4F7F-911F-D7E701A4484E}" presName="composite" presStyleCnt="0"/>
      <dgm:spPr/>
    </dgm:pt>
    <dgm:pt modelId="{83CF9446-636B-4D5A-909C-54093F506AB5}" type="pres">
      <dgm:prSet presAssocID="{78E93937-0109-4F7F-911F-D7E701A4484E}" presName="background" presStyleLbl="node0" presStyleIdx="2" presStyleCnt="3"/>
      <dgm:spPr/>
    </dgm:pt>
    <dgm:pt modelId="{6B76DCC2-FA48-4F93-B072-7E2529161836}" type="pres">
      <dgm:prSet presAssocID="{78E93937-0109-4F7F-911F-D7E701A4484E}" presName="text" presStyleLbl="fgAcc0" presStyleIdx="2" presStyleCnt="3">
        <dgm:presLayoutVars>
          <dgm:chPref val="3"/>
        </dgm:presLayoutVars>
      </dgm:prSet>
      <dgm:spPr/>
    </dgm:pt>
    <dgm:pt modelId="{0AC80551-1CE5-4398-9B18-8CEFC2F05D52}" type="pres">
      <dgm:prSet presAssocID="{78E93937-0109-4F7F-911F-D7E701A4484E}" presName="hierChild2" presStyleCnt="0"/>
      <dgm:spPr/>
    </dgm:pt>
  </dgm:ptLst>
  <dgm:cxnLst>
    <dgm:cxn modelId="{885A770D-8527-47F4-9928-D64D63DEA9C1}" type="presOf" srcId="{78E93937-0109-4F7F-911F-D7E701A4484E}" destId="{6B76DCC2-FA48-4F93-B072-7E2529161836}" srcOrd="0" destOrd="0" presId="urn:microsoft.com/office/officeart/2005/8/layout/hierarchy1"/>
    <dgm:cxn modelId="{849EA381-A452-47F3-88E7-CFF91FD2BA7A}" type="presOf" srcId="{8445AA2E-D83C-4E40-9D17-47DAA0BD8DE7}" destId="{F889278F-7B87-4B17-920F-5948AA8374BF}" srcOrd="0" destOrd="0" presId="urn:microsoft.com/office/officeart/2005/8/layout/hierarchy1"/>
    <dgm:cxn modelId="{BFA61585-CBC8-43E8-9035-A63F91D628DC}" srcId="{98737BB4-9B9D-4014-BB50-185BCE26DFA1}" destId="{8445AA2E-D83C-4E40-9D17-47DAA0BD8DE7}" srcOrd="0" destOrd="0" parTransId="{279EEFC5-7D93-4407-B9B0-875ABC45F016}" sibTransId="{D0C9FE9D-7117-4DAB-92D0-52A03F578922}"/>
    <dgm:cxn modelId="{EA854F8F-42D0-492A-88FF-93C667C1E4AA}" type="presOf" srcId="{98737BB4-9B9D-4014-BB50-185BCE26DFA1}" destId="{5E0C5393-B1C8-475B-9CF1-EF33DC537144}" srcOrd="0" destOrd="0" presId="urn:microsoft.com/office/officeart/2005/8/layout/hierarchy1"/>
    <dgm:cxn modelId="{3322C3A5-795A-42F5-B00E-222BE8AE6A4A}" srcId="{98737BB4-9B9D-4014-BB50-185BCE26DFA1}" destId="{FAD3DB12-2BB9-4022-845E-B3545BCD5173}" srcOrd="1" destOrd="0" parTransId="{B2CA5102-BB6A-4B49-8BD7-9CCD95AB106E}" sibTransId="{DAF1774D-6E5D-4260-9924-2F17C558210E}"/>
    <dgm:cxn modelId="{C02CDAC0-3A59-4AC5-AE74-9B47ABC4DD8A}" srcId="{98737BB4-9B9D-4014-BB50-185BCE26DFA1}" destId="{78E93937-0109-4F7F-911F-D7E701A4484E}" srcOrd="2" destOrd="0" parTransId="{89BD1E3A-975A-4F50-B3A0-82471A47B904}" sibTransId="{658C56B8-5900-4405-BF59-FE217898EA04}"/>
    <dgm:cxn modelId="{CDF52DC3-B8E2-4AE9-A2CA-AC78C5E0627D}" type="presOf" srcId="{FAD3DB12-2BB9-4022-845E-B3545BCD5173}" destId="{02E5E094-ABD0-4B0D-AA54-273B6A887520}" srcOrd="0" destOrd="0" presId="urn:microsoft.com/office/officeart/2005/8/layout/hierarchy1"/>
    <dgm:cxn modelId="{2CC6AF72-8497-4417-8642-F1F61BAD9AA1}" type="presParOf" srcId="{5E0C5393-B1C8-475B-9CF1-EF33DC537144}" destId="{C80686A8-6D7A-4044-A223-10A132D58BEF}" srcOrd="0" destOrd="0" presId="urn:microsoft.com/office/officeart/2005/8/layout/hierarchy1"/>
    <dgm:cxn modelId="{F85955DE-72B0-4A49-A39F-828661E39608}" type="presParOf" srcId="{C80686A8-6D7A-4044-A223-10A132D58BEF}" destId="{D597BB3B-FD28-4604-AC27-ACE49330D236}" srcOrd="0" destOrd="0" presId="urn:microsoft.com/office/officeart/2005/8/layout/hierarchy1"/>
    <dgm:cxn modelId="{C76C9DE2-C154-44E1-B38D-7BF2B171987E}" type="presParOf" srcId="{D597BB3B-FD28-4604-AC27-ACE49330D236}" destId="{881277B0-CD9E-4700-A879-D6EB4207A74D}" srcOrd="0" destOrd="0" presId="urn:microsoft.com/office/officeart/2005/8/layout/hierarchy1"/>
    <dgm:cxn modelId="{9A0931E7-3A83-4ADC-8FEC-4C59BF9BB483}" type="presParOf" srcId="{D597BB3B-FD28-4604-AC27-ACE49330D236}" destId="{F889278F-7B87-4B17-920F-5948AA8374BF}" srcOrd="1" destOrd="0" presId="urn:microsoft.com/office/officeart/2005/8/layout/hierarchy1"/>
    <dgm:cxn modelId="{6A48AE4D-F228-4EC2-AF0E-A598C00BCFEE}" type="presParOf" srcId="{C80686A8-6D7A-4044-A223-10A132D58BEF}" destId="{62CF4588-D1B5-46F3-B1B8-7303B04254BC}" srcOrd="1" destOrd="0" presId="urn:microsoft.com/office/officeart/2005/8/layout/hierarchy1"/>
    <dgm:cxn modelId="{D192588C-4F6E-4919-9EEE-BBEDD748B632}" type="presParOf" srcId="{5E0C5393-B1C8-475B-9CF1-EF33DC537144}" destId="{7F306BB0-5F32-48EE-9C06-B2DC6416A267}" srcOrd="1" destOrd="0" presId="urn:microsoft.com/office/officeart/2005/8/layout/hierarchy1"/>
    <dgm:cxn modelId="{12EBFE89-E67D-463D-9B60-AD76D3629E62}" type="presParOf" srcId="{7F306BB0-5F32-48EE-9C06-B2DC6416A267}" destId="{C6B9A06E-95F4-457E-B1B5-81B258ABA9E0}" srcOrd="0" destOrd="0" presId="urn:microsoft.com/office/officeart/2005/8/layout/hierarchy1"/>
    <dgm:cxn modelId="{81785EC3-1193-4596-B410-A25FDE068817}" type="presParOf" srcId="{C6B9A06E-95F4-457E-B1B5-81B258ABA9E0}" destId="{D4F44917-56FB-47E6-B565-4300442E5FD5}" srcOrd="0" destOrd="0" presId="urn:microsoft.com/office/officeart/2005/8/layout/hierarchy1"/>
    <dgm:cxn modelId="{C51F7688-D948-494D-9EA9-EAE6D2BD47CF}" type="presParOf" srcId="{C6B9A06E-95F4-457E-B1B5-81B258ABA9E0}" destId="{02E5E094-ABD0-4B0D-AA54-273B6A887520}" srcOrd="1" destOrd="0" presId="urn:microsoft.com/office/officeart/2005/8/layout/hierarchy1"/>
    <dgm:cxn modelId="{7FC3BB84-0863-4B74-8048-AFB9411482F1}" type="presParOf" srcId="{7F306BB0-5F32-48EE-9C06-B2DC6416A267}" destId="{C86933BA-F301-410D-B7D9-3E9E63CD65C2}" srcOrd="1" destOrd="0" presId="urn:microsoft.com/office/officeart/2005/8/layout/hierarchy1"/>
    <dgm:cxn modelId="{07E3D52B-51E4-4B39-916D-49F3FDF7102C}" type="presParOf" srcId="{5E0C5393-B1C8-475B-9CF1-EF33DC537144}" destId="{C57665A1-FED1-40D1-8B42-65A32B1F3083}" srcOrd="2" destOrd="0" presId="urn:microsoft.com/office/officeart/2005/8/layout/hierarchy1"/>
    <dgm:cxn modelId="{646BEDB8-7F5F-49AB-A3C7-F41F6960A005}" type="presParOf" srcId="{C57665A1-FED1-40D1-8B42-65A32B1F3083}" destId="{9E527C9F-E6C5-452D-873C-FBCAC080A390}" srcOrd="0" destOrd="0" presId="urn:microsoft.com/office/officeart/2005/8/layout/hierarchy1"/>
    <dgm:cxn modelId="{1B6D9714-7238-430D-9F7B-4B8F8DB155C4}" type="presParOf" srcId="{9E527C9F-E6C5-452D-873C-FBCAC080A390}" destId="{83CF9446-636B-4D5A-909C-54093F506AB5}" srcOrd="0" destOrd="0" presId="urn:microsoft.com/office/officeart/2005/8/layout/hierarchy1"/>
    <dgm:cxn modelId="{AFCB9865-7000-49C9-AC3D-7CEC49DD7A55}" type="presParOf" srcId="{9E527C9F-E6C5-452D-873C-FBCAC080A390}" destId="{6B76DCC2-FA48-4F93-B072-7E2529161836}" srcOrd="1" destOrd="0" presId="urn:microsoft.com/office/officeart/2005/8/layout/hierarchy1"/>
    <dgm:cxn modelId="{ABDD6879-1500-46D8-A275-2A07065B9E03}" type="presParOf" srcId="{C57665A1-FED1-40D1-8B42-65A32B1F3083}" destId="{0AC80551-1CE5-4398-9B18-8CEFC2F05D52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3D76CCA9-59A3-4D6F-94EC-535A66F53FE4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C6AD08DC-DE29-41F7-BC4E-374CA9020A1E}">
      <dgm:prSet/>
      <dgm:spPr/>
      <dgm:t>
        <a:bodyPr/>
        <a:lstStyle/>
        <a:p>
          <a:r>
            <a:rPr lang="en-GB"/>
            <a:t>To ensure safety and fairness.</a:t>
          </a:r>
          <a:endParaRPr lang="en-US"/>
        </a:p>
      </dgm:t>
    </dgm:pt>
    <dgm:pt modelId="{1BED661B-ED3B-4C0B-9364-7155549FC934}" type="parTrans" cxnId="{43A19A4D-05B1-41F1-A8E4-FF298C86BD29}">
      <dgm:prSet/>
      <dgm:spPr/>
      <dgm:t>
        <a:bodyPr/>
        <a:lstStyle/>
        <a:p>
          <a:endParaRPr lang="en-US"/>
        </a:p>
      </dgm:t>
    </dgm:pt>
    <dgm:pt modelId="{5B6A83CD-F753-470C-95D8-0667E19BBF3F}" type="sibTrans" cxnId="{43A19A4D-05B1-41F1-A8E4-FF298C86BD29}">
      <dgm:prSet/>
      <dgm:spPr/>
      <dgm:t>
        <a:bodyPr/>
        <a:lstStyle/>
        <a:p>
          <a:endParaRPr lang="en-US"/>
        </a:p>
      </dgm:t>
    </dgm:pt>
    <dgm:pt modelId="{C12F39C6-43F5-4270-BFE4-89AFB659B157}">
      <dgm:prSet/>
      <dgm:spPr/>
      <dgm:t>
        <a:bodyPr/>
        <a:lstStyle/>
        <a:p>
          <a:r>
            <a:rPr lang="en-GB"/>
            <a:t>To prevent misuse and harm.</a:t>
          </a:r>
          <a:endParaRPr lang="en-US"/>
        </a:p>
      </dgm:t>
    </dgm:pt>
    <dgm:pt modelId="{A86220D7-A020-4DCC-A557-6E4D46674431}" type="parTrans" cxnId="{A5F748A1-F13E-4D83-B433-D7D88AF1D7AA}">
      <dgm:prSet/>
      <dgm:spPr/>
      <dgm:t>
        <a:bodyPr/>
        <a:lstStyle/>
        <a:p>
          <a:endParaRPr lang="en-US"/>
        </a:p>
      </dgm:t>
    </dgm:pt>
    <dgm:pt modelId="{2151F95C-18FB-4572-BCE0-E56DBC4806F0}" type="sibTrans" cxnId="{A5F748A1-F13E-4D83-B433-D7D88AF1D7AA}">
      <dgm:prSet/>
      <dgm:spPr/>
      <dgm:t>
        <a:bodyPr/>
        <a:lstStyle/>
        <a:p>
          <a:endParaRPr lang="en-US"/>
        </a:p>
      </dgm:t>
    </dgm:pt>
    <dgm:pt modelId="{A83D1AF6-4505-4FCB-9C8D-76586C44F8A9}">
      <dgm:prSet/>
      <dgm:spPr/>
      <dgm:t>
        <a:bodyPr/>
        <a:lstStyle/>
        <a:p>
          <a:r>
            <a:rPr lang="en-GB"/>
            <a:t>To promote ethical innovation.</a:t>
          </a:r>
          <a:endParaRPr lang="en-US"/>
        </a:p>
      </dgm:t>
    </dgm:pt>
    <dgm:pt modelId="{CE450E04-57B6-4B5A-8DFA-F982DA954DE4}" type="parTrans" cxnId="{46B46D2F-1F2E-4F30-9524-5972C39F87BA}">
      <dgm:prSet/>
      <dgm:spPr/>
      <dgm:t>
        <a:bodyPr/>
        <a:lstStyle/>
        <a:p>
          <a:endParaRPr lang="en-US"/>
        </a:p>
      </dgm:t>
    </dgm:pt>
    <dgm:pt modelId="{36E3CDD5-5201-4D7E-8F09-B4828602F5E8}" type="sibTrans" cxnId="{46B46D2F-1F2E-4F30-9524-5972C39F87BA}">
      <dgm:prSet/>
      <dgm:spPr/>
      <dgm:t>
        <a:bodyPr/>
        <a:lstStyle/>
        <a:p>
          <a:endParaRPr lang="en-US"/>
        </a:p>
      </dgm:t>
    </dgm:pt>
    <dgm:pt modelId="{4E7F707F-43A6-4E5C-915D-9EFF73E83636}" type="pres">
      <dgm:prSet presAssocID="{3D76CCA9-59A3-4D6F-94EC-535A66F53FE4}" presName="root" presStyleCnt="0">
        <dgm:presLayoutVars>
          <dgm:dir/>
          <dgm:resizeHandles val="exact"/>
        </dgm:presLayoutVars>
      </dgm:prSet>
      <dgm:spPr/>
    </dgm:pt>
    <dgm:pt modelId="{38FE08DC-20C5-4F10-A42E-412E4E2B53E8}" type="pres">
      <dgm:prSet presAssocID="{C6AD08DC-DE29-41F7-BC4E-374CA9020A1E}" presName="compNode" presStyleCnt="0"/>
      <dgm:spPr/>
    </dgm:pt>
    <dgm:pt modelId="{A4B685EF-F823-48F1-BC6A-702D61791934}" type="pres">
      <dgm:prSet presAssocID="{C6AD08DC-DE29-41F7-BC4E-374CA9020A1E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cales of Justice"/>
        </a:ext>
      </dgm:extLst>
    </dgm:pt>
    <dgm:pt modelId="{022CB238-A8D6-4C90-8621-38129F8F33E5}" type="pres">
      <dgm:prSet presAssocID="{C6AD08DC-DE29-41F7-BC4E-374CA9020A1E}" presName="spaceRect" presStyleCnt="0"/>
      <dgm:spPr/>
    </dgm:pt>
    <dgm:pt modelId="{B4D43692-D573-4AA8-A2A0-A87C6D9709BB}" type="pres">
      <dgm:prSet presAssocID="{C6AD08DC-DE29-41F7-BC4E-374CA9020A1E}" presName="textRect" presStyleLbl="revTx" presStyleIdx="0" presStyleCnt="3">
        <dgm:presLayoutVars>
          <dgm:chMax val="1"/>
          <dgm:chPref val="1"/>
        </dgm:presLayoutVars>
      </dgm:prSet>
      <dgm:spPr/>
    </dgm:pt>
    <dgm:pt modelId="{60E9A742-8EBD-4402-B1E5-52D9808E70F1}" type="pres">
      <dgm:prSet presAssocID="{5B6A83CD-F753-470C-95D8-0667E19BBF3F}" presName="sibTrans" presStyleCnt="0"/>
      <dgm:spPr/>
    </dgm:pt>
    <dgm:pt modelId="{8DEC98AF-F7B9-4548-8DA8-317528579413}" type="pres">
      <dgm:prSet presAssocID="{C12F39C6-43F5-4270-BFE4-89AFB659B157}" presName="compNode" presStyleCnt="0"/>
      <dgm:spPr/>
    </dgm:pt>
    <dgm:pt modelId="{C7BC5C7F-8BFD-4F17-A81B-73624EB9DF31}" type="pres">
      <dgm:prSet presAssocID="{C12F39C6-43F5-4270-BFE4-89AFB659B157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ecycle"/>
        </a:ext>
      </dgm:extLst>
    </dgm:pt>
    <dgm:pt modelId="{4A5F499E-4E43-4628-A7B4-A3949A3F74DE}" type="pres">
      <dgm:prSet presAssocID="{C12F39C6-43F5-4270-BFE4-89AFB659B157}" presName="spaceRect" presStyleCnt="0"/>
      <dgm:spPr/>
    </dgm:pt>
    <dgm:pt modelId="{5AB9BFED-22D2-45DE-9928-1F3D659CB0AB}" type="pres">
      <dgm:prSet presAssocID="{C12F39C6-43F5-4270-BFE4-89AFB659B157}" presName="textRect" presStyleLbl="revTx" presStyleIdx="1" presStyleCnt="3">
        <dgm:presLayoutVars>
          <dgm:chMax val="1"/>
          <dgm:chPref val="1"/>
        </dgm:presLayoutVars>
      </dgm:prSet>
      <dgm:spPr/>
    </dgm:pt>
    <dgm:pt modelId="{05A3DF51-E946-4B21-B35F-C720B1118E63}" type="pres">
      <dgm:prSet presAssocID="{2151F95C-18FB-4572-BCE0-E56DBC4806F0}" presName="sibTrans" presStyleCnt="0"/>
      <dgm:spPr/>
    </dgm:pt>
    <dgm:pt modelId="{2447F368-1C42-417F-8120-03EA0E5B6284}" type="pres">
      <dgm:prSet presAssocID="{A83D1AF6-4505-4FCB-9C8D-76586C44F8A9}" presName="compNode" presStyleCnt="0"/>
      <dgm:spPr/>
    </dgm:pt>
    <dgm:pt modelId="{976814D7-BDDA-4815-8B92-887A1288AA58}" type="pres">
      <dgm:prSet presAssocID="{A83D1AF6-4505-4FCB-9C8D-76586C44F8A9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ightbulb"/>
        </a:ext>
      </dgm:extLst>
    </dgm:pt>
    <dgm:pt modelId="{61521C5A-1E78-41F8-B5CC-FDCA696EFA69}" type="pres">
      <dgm:prSet presAssocID="{A83D1AF6-4505-4FCB-9C8D-76586C44F8A9}" presName="spaceRect" presStyleCnt="0"/>
      <dgm:spPr/>
    </dgm:pt>
    <dgm:pt modelId="{0181B993-1137-45D6-A496-77104C9EAA4E}" type="pres">
      <dgm:prSet presAssocID="{A83D1AF6-4505-4FCB-9C8D-76586C44F8A9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46B46D2F-1F2E-4F30-9524-5972C39F87BA}" srcId="{3D76CCA9-59A3-4D6F-94EC-535A66F53FE4}" destId="{A83D1AF6-4505-4FCB-9C8D-76586C44F8A9}" srcOrd="2" destOrd="0" parTransId="{CE450E04-57B6-4B5A-8DFA-F982DA954DE4}" sibTransId="{36E3CDD5-5201-4D7E-8F09-B4828602F5E8}"/>
    <dgm:cxn modelId="{58BB9338-E9F8-4D3B-81CC-0596B2023717}" type="presOf" srcId="{A83D1AF6-4505-4FCB-9C8D-76586C44F8A9}" destId="{0181B993-1137-45D6-A496-77104C9EAA4E}" srcOrd="0" destOrd="0" presId="urn:microsoft.com/office/officeart/2018/2/layout/IconLabelList"/>
    <dgm:cxn modelId="{43A19A4D-05B1-41F1-A8E4-FF298C86BD29}" srcId="{3D76CCA9-59A3-4D6F-94EC-535A66F53FE4}" destId="{C6AD08DC-DE29-41F7-BC4E-374CA9020A1E}" srcOrd="0" destOrd="0" parTransId="{1BED661B-ED3B-4C0B-9364-7155549FC934}" sibTransId="{5B6A83CD-F753-470C-95D8-0667E19BBF3F}"/>
    <dgm:cxn modelId="{A5F748A1-F13E-4D83-B433-D7D88AF1D7AA}" srcId="{3D76CCA9-59A3-4D6F-94EC-535A66F53FE4}" destId="{C12F39C6-43F5-4270-BFE4-89AFB659B157}" srcOrd="1" destOrd="0" parTransId="{A86220D7-A020-4DCC-A557-6E4D46674431}" sibTransId="{2151F95C-18FB-4572-BCE0-E56DBC4806F0}"/>
    <dgm:cxn modelId="{10A3E8AC-4BC7-418D-B661-1887398786B8}" type="presOf" srcId="{C12F39C6-43F5-4270-BFE4-89AFB659B157}" destId="{5AB9BFED-22D2-45DE-9928-1F3D659CB0AB}" srcOrd="0" destOrd="0" presId="urn:microsoft.com/office/officeart/2018/2/layout/IconLabelList"/>
    <dgm:cxn modelId="{14111CB1-E8B2-47CD-9469-216DAAD638C4}" type="presOf" srcId="{3D76CCA9-59A3-4D6F-94EC-535A66F53FE4}" destId="{4E7F707F-43A6-4E5C-915D-9EFF73E83636}" srcOrd="0" destOrd="0" presId="urn:microsoft.com/office/officeart/2018/2/layout/IconLabelList"/>
    <dgm:cxn modelId="{669BABF6-8858-4936-8AA9-4D67493DFBE0}" type="presOf" srcId="{C6AD08DC-DE29-41F7-BC4E-374CA9020A1E}" destId="{B4D43692-D573-4AA8-A2A0-A87C6D9709BB}" srcOrd="0" destOrd="0" presId="urn:microsoft.com/office/officeart/2018/2/layout/IconLabelList"/>
    <dgm:cxn modelId="{4A1B47E9-73BE-45D2-9DDC-8A0AE2C3EB8E}" type="presParOf" srcId="{4E7F707F-43A6-4E5C-915D-9EFF73E83636}" destId="{38FE08DC-20C5-4F10-A42E-412E4E2B53E8}" srcOrd="0" destOrd="0" presId="urn:microsoft.com/office/officeart/2018/2/layout/IconLabelList"/>
    <dgm:cxn modelId="{15D62B3C-15DD-48AC-8040-4EA88ADE91F4}" type="presParOf" srcId="{38FE08DC-20C5-4F10-A42E-412E4E2B53E8}" destId="{A4B685EF-F823-48F1-BC6A-702D61791934}" srcOrd="0" destOrd="0" presId="urn:microsoft.com/office/officeart/2018/2/layout/IconLabelList"/>
    <dgm:cxn modelId="{81E8CB4A-A9A2-4E59-B0A9-C1089562C5E8}" type="presParOf" srcId="{38FE08DC-20C5-4F10-A42E-412E4E2B53E8}" destId="{022CB238-A8D6-4C90-8621-38129F8F33E5}" srcOrd="1" destOrd="0" presId="urn:microsoft.com/office/officeart/2018/2/layout/IconLabelList"/>
    <dgm:cxn modelId="{D6EC85E6-ECFF-4351-99EB-7FF785F66516}" type="presParOf" srcId="{38FE08DC-20C5-4F10-A42E-412E4E2B53E8}" destId="{B4D43692-D573-4AA8-A2A0-A87C6D9709BB}" srcOrd="2" destOrd="0" presId="urn:microsoft.com/office/officeart/2018/2/layout/IconLabelList"/>
    <dgm:cxn modelId="{72B655F1-5480-4D24-8293-1EC2C6D323EE}" type="presParOf" srcId="{4E7F707F-43A6-4E5C-915D-9EFF73E83636}" destId="{60E9A742-8EBD-4402-B1E5-52D9808E70F1}" srcOrd="1" destOrd="0" presId="urn:microsoft.com/office/officeart/2018/2/layout/IconLabelList"/>
    <dgm:cxn modelId="{08DE70D8-3A02-4F48-BFFE-33809DDFC254}" type="presParOf" srcId="{4E7F707F-43A6-4E5C-915D-9EFF73E83636}" destId="{8DEC98AF-F7B9-4548-8DA8-317528579413}" srcOrd="2" destOrd="0" presId="urn:microsoft.com/office/officeart/2018/2/layout/IconLabelList"/>
    <dgm:cxn modelId="{83A9B7A8-2722-485C-B0E0-7010385240E2}" type="presParOf" srcId="{8DEC98AF-F7B9-4548-8DA8-317528579413}" destId="{C7BC5C7F-8BFD-4F17-A81B-73624EB9DF31}" srcOrd="0" destOrd="0" presId="urn:microsoft.com/office/officeart/2018/2/layout/IconLabelList"/>
    <dgm:cxn modelId="{117503DD-B2B6-4B16-8B62-66B7982DB0A7}" type="presParOf" srcId="{8DEC98AF-F7B9-4548-8DA8-317528579413}" destId="{4A5F499E-4E43-4628-A7B4-A3949A3F74DE}" srcOrd="1" destOrd="0" presId="urn:microsoft.com/office/officeart/2018/2/layout/IconLabelList"/>
    <dgm:cxn modelId="{9E3DCAFD-B1A4-43FC-B0D3-6E27BD23996F}" type="presParOf" srcId="{8DEC98AF-F7B9-4548-8DA8-317528579413}" destId="{5AB9BFED-22D2-45DE-9928-1F3D659CB0AB}" srcOrd="2" destOrd="0" presId="urn:microsoft.com/office/officeart/2018/2/layout/IconLabelList"/>
    <dgm:cxn modelId="{CBD3B047-DDC7-4D4E-9321-1E65DCE6E208}" type="presParOf" srcId="{4E7F707F-43A6-4E5C-915D-9EFF73E83636}" destId="{05A3DF51-E946-4B21-B35F-C720B1118E63}" srcOrd="3" destOrd="0" presId="urn:microsoft.com/office/officeart/2018/2/layout/IconLabelList"/>
    <dgm:cxn modelId="{DF83BC9E-4B7D-4946-9017-51391B89409C}" type="presParOf" srcId="{4E7F707F-43A6-4E5C-915D-9EFF73E83636}" destId="{2447F368-1C42-417F-8120-03EA0E5B6284}" srcOrd="4" destOrd="0" presId="urn:microsoft.com/office/officeart/2018/2/layout/IconLabelList"/>
    <dgm:cxn modelId="{C563586A-E44C-4807-BED0-1555457BCE63}" type="presParOf" srcId="{2447F368-1C42-417F-8120-03EA0E5B6284}" destId="{976814D7-BDDA-4815-8B92-887A1288AA58}" srcOrd="0" destOrd="0" presId="urn:microsoft.com/office/officeart/2018/2/layout/IconLabelList"/>
    <dgm:cxn modelId="{95D064D2-6BB9-4D0A-8EA1-1724FB83430C}" type="presParOf" srcId="{2447F368-1C42-417F-8120-03EA0E5B6284}" destId="{61521C5A-1E78-41F8-B5CC-FDCA696EFA69}" srcOrd="1" destOrd="0" presId="urn:microsoft.com/office/officeart/2018/2/layout/IconLabelList"/>
    <dgm:cxn modelId="{0BE4CBF2-1229-4D60-8911-C87FC060F584}" type="presParOf" srcId="{2447F368-1C42-417F-8120-03EA0E5B6284}" destId="{0181B993-1137-45D6-A496-77104C9EAA4E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B4A9BE7-74C0-4C4A-800D-2B085771CA72}">
      <dsp:nvSpPr>
        <dsp:cNvPr id="0" name=""/>
        <dsp:cNvSpPr/>
      </dsp:nvSpPr>
      <dsp:spPr>
        <a:xfrm>
          <a:off x="3080" y="1361790"/>
          <a:ext cx="2199649" cy="1396777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2A4C1AB-D2B1-4130-97EE-8E4A9799BFAF}">
      <dsp:nvSpPr>
        <dsp:cNvPr id="0" name=""/>
        <dsp:cNvSpPr/>
      </dsp:nvSpPr>
      <dsp:spPr>
        <a:xfrm>
          <a:off x="247486" y="1593975"/>
          <a:ext cx="2199649" cy="139677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600" kern="1200"/>
            <a:t>Deepfake</a:t>
          </a:r>
          <a:endParaRPr lang="en-US" sz="2600" kern="1200"/>
        </a:p>
      </dsp:txBody>
      <dsp:txXfrm>
        <a:off x="288396" y="1634885"/>
        <a:ext cx="2117829" cy="1314957"/>
      </dsp:txXfrm>
    </dsp:sp>
    <dsp:sp modelId="{C2671B7E-532E-4151-81EE-B6C8D311C7F4}">
      <dsp:nvSpPr>
        <dsp:cNvPr id="0" name=""/>
        <dsp:cNvSpPr/>
      </dsp:nvSpPr>
      <dsp:spPr>
        <a:xfrm>
          <a:off x="2691541" y="1361790"/>
          <a:ext cx="2199649" cy="1396777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F944105-590D-40BD-9560-94903D923476}">
      <dsp:nvSpPr>
        <dsp:cNvPr id="0" name=""/>
        <dsp:cNvSpPr/>
      </dsp:nvSpPr>
      <dsp:spPr>
        <a:xfrm>
          <a:off x="2935947" y="1593975"/>
          <a:ext cx="2199649" cy="139677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600" kern="1200"/>
            <a:t>Privacy </a:t>
          </a:r>
          <a:endParaRPr lang="en-US" sz="2600" kern="1200"/>
        </a:p>
      </dsp:txBody>
      <dsp:txXfrm>
        <a:off x="2976857" y="1634885"/>
        <a:ext cx="2117829" cy="1314957"/>
      </dsp:txXfrm>
    </dsp:sp>
    <dsp:sp modelId="{DA8C35A8-906D-4D93-8DBC-D7A402A8F6A3}">
      <dsp:nvSpPr>
        <dsp:cNvPr id="0" name=""/>
        <dsp:cNvSpPr/>
      </dsp:nvSpPr>
      <dsp:spPr>
        <a:xfrm>
          <a:off x="5380002" y="1361790"/>
          <a:ext cx="2199649" cy="1396777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1B0DB28-AB14-41D3-A7A8-242B0427C304}">
      <dsp:nvSpPr>
        <dsp:cNvPr id="0" name=""/>
        <dsp:cNvSpPr/>
      </dsp:nvSpPr>
      <dsp:spPr>
        <a:xfrm>
          <a:off x="5624408" y="1593975"/>
          <a:ext cx="2199649" cy="139677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600" kern="1200"/>
            <a:t>Water and Natural Resources</a:t>
          </a:r>
          <a:endParaRPr lang="en-US" sz="2600" kern="1200"/>
        </a:p>
      </dsp:txBody>
      <dsp:txXfrm>
        <a:off x="5665318" y="1634885"/>
        <a:ext cx="2117829" cy="1314957"/>
      </dsp:txXfrm>
    </dsp:sp>
    <dsp:sp modelId="{79E1F0A8-8CAA-4FFE-A29F-8F8DC21694C5}">
      <dsp:nvSpPr>
        <dsp:cNvPr id="0" name=""/>
        <dsp:cNvSpPr/>
      </dsp:nvSpPr>
      <dsp:spPr>
        <a:xfrm>
          <a:off x="8068463" y="1361790"/>
          <a:ext cx="2199649" cy="1396777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3584ABB-3834-4150-9CD3-0AD56E1B7CC5}">
      <dsp:nvSpPr>
        <dsp:cNvPr id="0" name=""/>
        <dsp:cNvSpPr/>
      </dsp:nvSpPr>
      <dsp:spPr>
        <a:xfrm>
          <a:off x="8312869" y="1593975"/>
          <a:ext cx="2199649" cy="139677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600" kern="1200"/>
            <a:t>Nudges</a:t>
          </a:r>
          <a:endParaRPr lang="en-US" sz="2600" kern="1200"/>
        </a:p>
      </dsp:txBody>
      <dsp:txXfrm>
        <a:off x="8353779" y="1634885"/>
        <a:ext cx="2117829" cy="131495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81277B0-CD9E-4700-A879-D6EB4207A74D}">
      <dsp:nvSpPr>
        <dsp:cNvPr id="0" name=""/>
        <dsp:cNvSpPr/>
      </dsp:nvSpPr>
      <dsp:spPr>
        <a:xfrm>
          <a:off x="0" y="895407"/>
          <a:ext cx="2957512" cy="187802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889278F-7B87-4B17-920F-5948AA8374BF}">
      <dsp:nvSpPr>
        <dsp:cNvPr id="0" name=""/>
        <dsp:cNvSpPr/>
      </dsp:nvSpPr>
      <dsp:spPr>
        <a:xfrm>
          <a:off x="328612" y="1207589"/>
          <a:ext cx="2957512" cy="187802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b="1" kern="1200"/>
            <a:t>Gender Bias</a:t>
          </a:r>
          <a:r>
            <a:rPr lang="en-GB" sz="1900" kern="1200"/>
            <a:t>: Models might associate certain professions with specific genders (e.g., "doctor" with male or "nurse" with female).</a:t>
          </a:r>
          <a:endParaRPr lang="en-US" sz="1900" kern="1200"/>
        </a:p>
      </dsp:txBody>
      <dsp:txXfrm>
        <a:off x="383617" y="1262594"/>
        <a:ext cx="2847502" cy="1768010"/>
      </dsp:txXfrm>
    </dsp:sp>
    <dsp:sp modelId="{D4F44917-56FB-47E6-B565-4300442E5FD5}">
      <dsp:nvSpPr>
        <dsp:cNvPr id="0" name=""/>
        <dsp:cNvSpPr/>
      </dsp:nvSpPr>
      <dsp:spPr>
        <a:xfrm>
          <a:off x="3614737" y="895407"/>
          <a:ext cx="2957512" cy="187802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2E5E094-ABD0-4B0D-AA54-273B6A887520}">
      <dsp:nvSpPr>
        <dsp:cNvPr id="0" name=""/>
        <dsp:cNvSpPr/>
      </dsp:nvSpPr>
      <dsp:spPr>
        <a:xfrm>
          <a:off x="3943350" y="1207589"/>
          <a:ext cx="2957512" cy="187802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b="1" kern="1200"/>
            <a:t>Cultural Bias</a:t>
          </a:r>
          <a:r>
            <a:rPr lang="en-GB" sz="1900" kern="1200"/>
            <a:t>: LLMs trained predominantly in English texts might overlook or misrepresent non-Western cultures.</a:t>
          </a:r>
          <a:endParaRPr lang="en-US" sz="1900" kern="1200"/>
        </a:p>
      </dsp:txBody>
      <dsp:txXfrm>
        <a:off x="3998355" y="1262594"/>
        <a:ext cx="2847502" cy="1768010"/>
      </dsp:txXfrm>
    </dsp:sp>
    <dsp:sp modelId="{83CF9446-636B-4D5A-909C-54093F506AB5}">
      <dsp:nvSpPr>
        <dsp:cNvPr id="0" name=""/>
        <dsp:cNvSpPr/>
      </dsp:nvSpPr>
      <dsp:spPr>
        <a:xfrm>
          <a:off x="7229475" y="895407"/>
          <a:ext cx="2957512" cy="187802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B76DCC2-FA48-4F93-B072-7E2529161836}">
      <dsp:nvSpPr>
        <dsp:cNvPr id="0" name=""/>
        <dsp:cNvSpPr/>
      </dsp:nvSpPr>
      <dsp:spPr>
        <a:xfrm>
          <a:off x="7558087" y="1207589"/>
          <a:ext cx="2957512" cy="187802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b="1" kern="1200"/>
            <a:t>Economic Bias</a:t>
          </a:r>
          <a:r>
            <a:rPr lang="en-GB" sz="1900" kern="1200"/>
            <a:t>: The accessibility of LLM tools might favour wealthier regions, excluding underrepresented communities.</a:t>
          </a:r>
          <a:endParaRPr lang="en-US" sz="1900" kern="1200"/>
        </a:p>
      </dsp:txBody>
      <dsp:txXfrm>
        <a:off x="7613092" y="1262594"/>
        <a:ext cx="2847502" cy="176801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4B685EF-F823-48F1-BC6A-702D61791934}">
      <dsp:nvSpPr>
        <dsp:cNvPr id="0" name=""/>
        <dsp:cNvSpPr/>
      </dsp:nvSpPr>
      <dsp:spPr>
        <a:xfrm>
          <a:off x="1167993" y="421040"/>
          <a:ext cx="1292537" cy="129253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4D43692-D573-4AA8-A2A0-A87C6D9709BB}">
      <dsp:nvSpPr>
        <dsp:cNvPr id="0" name=""/>
        <dsp:cNvSpPr/>
      </dsp:nvSpPr>
      <dsp:spPr>
        <a:xfrm>
          <a:off x="378109" y="2068861"/>
          <a:ext cx="2872305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500" kern="1200"/>
            <a:t>To ensure safety and fairness.</a:t>
          </a:r>
          <a:endParaRPr lang="en-US" sz="2500" kern="1200"/>
        </a:p>
      </dsp:txBody>
      <dsp:txXfrm>
        <a:off x="378109" y="2068861"/>
        <a:ext cx="2872305" cy="720000"/>
      </dsp:txXfrm>
    </dsp:sp>
    <dsp:sp modelId="{C7BC5C7F-8BFD-4F17-A81B-73624EB9DF31}">
      <dsp:nvSpPr>
        <dsp:cNvPr id="0" name=""/>
        <dsp:cNvSpPr/>
      </dsp:nvSpPr>
      <dsp:spPr>
        <a:xfrm>
          <a:off x="4542951" y="421040"/>
          <a:ext cx="1292537" cy="129253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AB9BFED-22D2-45DE-9928-1F3D659CB0AB}">
      <dsp:nvSpPr>
        <dsp:cNvPr id="0" name=""/>
        <dsp:cNvSpPr/>
      </dsp:nvSpPr>
      <dsp:spPr>
        <a:xfrm>
          <a:off x="3753067" y="2068861"/>
          <a:ext cx="2872305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500" kern="1200"/>
            <a:t>To prevent misuse and harm.</a:t>
          </a:r>
          <a:endParaRPr lang="en-US" sz="2500" kern="1200"/>
        </a:p>
      </dsp:txBody>
      <dsp:txXfrm>
        <a:off x="3753067" y="2068861"/>
        <a:ext cx="2872305" cy="720000"/>
      </dsp:txXfrm>
    </dsp:sp>
    <dsp:sp modelId="{976814D7-BDDA-4815-8B92-887A1288AA58}">
      <dsp:nvSpPr>
        <dsp:cNvPr id="0" name=""/>
        <dsp:cNvSpPr/>
      </dsp:nvSpPr>
      <dsp:spPr>
        <a:xfrm>
          <a:off x="7917909" y="421040"/>
          <a:ext cx="1292537" cy="129253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181B993-1137-45D6-A496-77104C9EAA4E}">
      <dsp:nvSpPr>
        <dsp:cNvPr id="0" name=""/>
        <dsp:cNvSpPr/>
      </dsp:nvSpPr>
      <dsp:spPr>
        <a:xfrm>
          <a:off x="7128025" y="2068861"/>
          <a:ext cx="2872305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500" kern="1200"/>
            <a:t>To promote ethical innovation.</a:t>
          </a:r>
          <a:endParaRPr lang="en-US" sz="2500" kern="1200"/>
        </a:p>
      </dsp:txBody>
      <dsp:txXfrm>
        <a:off x="7128025" y="2068861"/>
        <a:ext cx="2872305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4DA4474-C859-4AA2-A5F3-2D978F87B49E}" type="datetimeFigureOut">
              <a:rPr lang="en-GB" smtClean="0"/>
              <a:t>18/01/2026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DD0667C-F332-4694-9404-3DA6EE9A43B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145125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ashingtonpost.com/technology/2024/09/18/energy-ai-use-electricity-water-data-centers/" TargetMode="External"/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Water and electricity consumption for ChatGPT-4. 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According to this paper, </a:t>
            </a:r>
            <a:r>
              <a:rPr lang="en-GB" sz="1200" b="0" i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The Washington Post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reported that a 100-word ChatGPT-4 response consumes 519 millilitres of water and 0.14 kWh. This is the basis for our own calculations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D0667C-F332-4694-9404-3DA6EE9A43BB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077327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https://www.politico.com/agenda/story/2015/10/obamas-effort-to-nudge-america-000276/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D0667C-F332-4694-9404-3DA6EE9A43BB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004953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8C8230-017D-652F-E8D2-934B0F9DFA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2F69901-8D3A-9B11-CF62-FFFCB0CCBC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CF8B0EF-D0E3-08C8-6DE4-1D76413E68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https://www.politico.com/agenda/story/2015/10/obamas-effort-to-nudge-america-000276/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84D173-494A-C566-C312-87F00AC816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D0667C-F332-4694-9404-3DA6EE9A43BB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463497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72337B-06DD-F080-E25A-5DADFAA48A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C2E4B67-1880-B0CC-429F-C2736F9770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53E1E4-3BA0-6197-92A5-6679CD5D86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2EF97-B0D3-4A25-A6EA-CE16367E45ED}" type="datetimeFigureOut">
              <a:rPr lang="en-GB" smtClean="0"/>
              <a:t>18/01/2026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0C8D09-22E0-A342-E6DF-D9FB0C70C7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141CBC-7F36-50B9-66AC-B249AB2604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F7686-97ED-4F5F-B8B7-143D9783E85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644534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D76110-F124-9835-6B92-05367AB527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996226-AB3C-B7C3-2951-6726EE46D2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7478CC-771F-57A3-923B-CAB0638D30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2EF97-B0D3-4A25-A6EA-CE16367E45ED}" type="datetimeFigureOut">
              <a:rPr lang="en-GB" smtClean="0"/>
              <a:t>18/01/2026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02FB20-D14F-7794-4873-F2FC056519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69D30D-486F-86F6-A0CF-998FF26FA8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F7686-97ED-4F5F-B8B7-143D9783E85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126859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A62405-819E-E227-6508-BA36DC37BB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17D70B-7384-5CF7-C281-CAC232C47B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0A4083-7E98-9293-7291-672A7B86A4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2EF97-B0D3-4A25-A6EA-CE16367E45ED}" type="datetimeFigureOut">
              <a:rPr lang="en-GB" smtClean="0"/>
              <a:t>18/01/2026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460E94-1CED-A35C-12E0-54ACD6F28D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4844C5-7104-3326-0BEF-77E0CA2CCC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F7686-97ED-4F5F-B8B7-143D9783E85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400882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3D9C4A-9166-3A99-4496-03FF75E9D9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53C960-D632-1C58-7EEF-D864AD202EF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122A6D4-D1B8-7467-6D03-79549D1E95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298241-FE55-BAFD-8078-D209D1725E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2EF97-B0D3-4A25-A6EA-CE16367E45ED}" type="datetimeFigureOut">
              <a:rPr lang="en-GB" smtClean="0"/>
              <a:t>18/01/2026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44B979-616E-9D15-177A-EA033E2DE3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7A22E9-35F2-AA47-511B-D54011CEAD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F7686-97ED-4F5F-B8B7-143D9783E85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851396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7DE639-316D-AB40-AAFA-708964A7D1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7C4F97-BF27-AE38-105A-4064095BA2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5A5908-60A5-FCCD-2DED-EB6B1D9E2B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EE62C05-A01C-6BCA-96BA-A53825CC1BA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2352BD9-5B30-C247-4595-140ABD10F66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6D50F1E-8DB7-81C8-CB67-3858E31F2D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2EF97-B0D3-4A25-A6EA-CE16367E45ED}" type="datetimeFigureOut">
              <a:rPr lang="en-GB" smtClean="0"/>
              <a:t>18/01/2026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FC657E7-4492-83BD-32BE-ABF6579009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F777A47-D3EE-85D4-E377-2C6803918A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F7686-97ED-4F5F-B8B7-143D9783E85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733556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358023-9F9C-38F8-57AA-7F39AA82D6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3206ED5-048D-79AE-5A2A-2E5ED53B78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2EF97-B0D3-4A25-A6EA-CE16367E45ED}" type="datetimeFigureOut">
              <a:rPr lang="en-GB" smtClean="0"/>
              <a:t>18/01/2026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C3A0049-BE28-E227-A556-260D5068DD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3EE7DE-FB5D-3072-BCBD-4C7BB9D6F5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F7686-97ED-4F5F-B8B7-143D9783E85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511235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396C0C0-FAAA-D717-6B73-A6C3BA6867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2EF97-B0D3-4A25-A6EA-CE16367E45ED}" type="datetimeFigureOut">
              <a:rPr lang="en-GB" smtClean="0"/>
              <a:t>18/01/2026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8D4BFDF-07C9-90AF-52DF-012942E573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3B607A-77A5-D9B8-7D45-6D4B9C18B6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F7686-97ED-4F5F-B8B7-143D9783E85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95004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F855E4-DC41-593D-F9B0-C9CD0DF38A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518038-ED14-7568-23E3-6936909136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CBDE87-8B45-AC03-AA05-332EFF9DCE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2E4B85-61C2-55A8-7146-8DF30E9682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2EF97-B0D3-4A25-A6EA-CE16367E45ED}" type="datetimeFigureOut">
              <a:rPr lang="en-GB" smtClean="0"/>
              <a:t>18/01/2026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61F253-B6DC-64A7-E2FA-346FB0959E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3BDD48-8A3C-F528-1100-7C30F9F884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F7686-97ED-4F5F-B8B7-143D9783E85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478391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302960-25A1-30B4-E795-CB13852A2C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C407BE4-2691-A1AB-D562-9104E52B43F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5B29A4-2A9F-7609-F813-B0EE79C3B1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80C501-47A3-03C7-4014-EBC61E15D6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2EF97-B0D3-4A25-A6EA-CE16367E45ED}" type="datetimeFigureOut">
              <a:rPr lang="en-GB" smtClean="0"/>
              <a:t>18/01/2026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7398B1-F0DB-716F-EE84-B7BD09E02F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FB843B-F0DE-CBB9-E0E1-E9727F0625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F7686-97ED-4F5F-B8B7-143D9783E85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614379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9CDBCC-F406-8236-A0BC-13C5583001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08D9DF1-98C0-E16B-8EC7-2F06A462F5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8CE57-C53F-080B-B6A7-5F0CE8FE62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2EF97-B0D3-4A25-A6EA-CE16367E45ED}" type="datetimeFigureOut">
              <a:rPr lang="en-GB" smtClean="0"/>
              <a:t>18/01/2026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61D974-C436-1F87-03AE-E409587EFB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244A2D-E85D-58E3-5628-B652715A3D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F7686-97ED-4F5F-B8B7-143D9783E85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299134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6C92796-B3E9-899E-C29F-E209F930A35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212464C-2F07-B190-DFA1-10D32197E6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6F5089-5B25-EF6F-E0AB-657A938D5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2EF97-B0D3-4A25-A6EA-CE16367E45ED}" type="datetimeFigureOut">
              <a:rPr lang="en-GB" smtClean="0"/>
              <a:t>18/01/2026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3BE77C-2EDD-9BAB-7EA6-DD35256335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30672A-6243-5221-2217-E4E806C6D8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F7686-97ED-4F5F-B8B7-143D9783E85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988009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E83B0D6-0462-030E-C66E-A0F1E8D826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0B600A-052C-96FF-101A-8ADB3C6864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7C9DA4-8BE5-2C95-52BE-E77AAE57E90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A72EF97-B0D3-4A25-A6EA-CE16367E45ED}" type="datetimeFigureOut">
              <a:rPr lang="en-GB" smtClean="0"/>
              <a:t>18/01/2026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F25138-CC80-78F7-A918-BFABA4275F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76929F-92E9-DC80-3622-A6A9C7704C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25F7686-97ED-4F5F-B8B7-143D9783E85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538504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hyperlink" Target="https://en.wikipedia.org/wiki/Facebook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Electronics protoboard">
            <a:extLst>
              <a:ext uri="{FF2B5EF4-FFF2-40B4-BE49-F238E27FC236}">
                <a16:creationId xmlns:a16="http://schemas.microsoft.com/office/drawing/2014/main" id="{7671BF53-C4A4-A028-ECC2-9688D4C4D88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rcRect t="15730"/>
          <a:stretch>
            <a:fillRect/>
          </a:stretch>
        </p:blipFill>
        <p:spPr>
          <a:xfrm>
            <a:off x="20" y="10"/>
            <a:ext cx="12191979" cy="685799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EB0222B5-B739-82A9-5CCC-C5585AE12A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344663" y="-4344657"/>
            <a:ext cx="3512260" cy="12201589"/>
          </a:xfrm>
          <a:prstGeom prst="rect">
            <a:avLst/>
          </a:prstGeom>
          <a:gradFill flip="none" rotWithShape="1">
            <a:gsLst>
              <a:gs pos="10000">
                <a:srgbClr val="000000">
                  <a:alpha val="0"/>
                </a:srgbClr>
              </a:gs>
              <a:gs pos="66000">
                <a:srgbClr val="000000">
                  <a:alpha val="46000"/>
                </a:srgbClr>
              </a:gs>
              <a:gs pos="100000">
                <a:srgbClr val="000000">
                  <a:alpha val="60000"/>
                </a:srgb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FF97556-D6EF-0DA9-69A1-5561D79B9F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2000" y="1137434"/>
            <a:ext cx="7800660" cy="1520987"/>
          </a:xfrm>
        </p:spPr>
        <p:txBody>
          <a:bodyPr anchor="t">
            <a:normAutofit/>
          </a:bodyPr>
          <a:lstStyle/>
          <a:p>
            <a:pPr algn="l"/>
            <a:r>
              <a:rPr lang="en-GB" sz="5400" dirty="0">
                <a:solidFill>
                  <a:srgbClr val="002060"/>
                </a:solidFill>
              </a:rPr>
              <a:t>Why Regulating Technology 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BE23E75-E7E9-4D9F-6D25-5512363F86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4878570" y="-449383"/>
            <a:ext cx="2425271" cy="12201588"/>
          </a:xfrm>
          <a:prstGeom prst="rect">
            <a:avLst/>
          </a:prstGeom>
          <a:gradFill flip="none" rotWithShape="1">
            <a:gsLst>
              <a:gs pos="10000">
                <a:srgbClr val="000000">
                  <a:alpha val="0"/>
                </a:srgbClr>
              </a:gs>
              <a:gs pos="66000">
                <a:srgbClr val="000000">
                  <a:alpha val="35000"/>
                </a:srgbClr>
              </a:gs>
              <a:gs pos="100000">
                <a:srgbClr val="000000">
                  <a:alpha val="45000"/>
                </a:srgb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1B115DB-65EB-3FC3-7284-CFDF4ADC60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65140" y="871146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421428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955A2079-FA98-4876-80F0-72364A7D2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66D78E2-533D-5BCE-1536-EC4C5FA873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7188"/>
            <a:ext cx="10515600" cy="1133499"/>
          </a:xfrm>
        </p:spPr>
        <p:txBody>
          <a:bodyPr>
            <a:normAutofit/>
          </a:bodyPr>
          <a:lstStyle/>
          <a:p>
            <a:pPr algn="ctr"/>
            <a:r>
              <a:rPr lang="en-GB" sz="5200"/>
              <a:t>Some Examples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4C1256F-8A7C-5CDD-2A22-2434937E87D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53978992"/>
              </p:ext>
            </p:extLst>
          </p:nvPr>
        </p:nvGraphicFramePr>
        <p:xfrm>
          <a:off x="838200" y="1828800"/>
          <a:ext cx="10515600" cy="43525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294604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6CCA5F87-1D1E-45CB-8D83-FC7EEFAD99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 descr="Laboratory glassware containing solution">
            <a:extLst>
              <a:ext uri="{FF2B5EF4-FFF2-40B4-BE49-F238E27FC236}">
                <a16:creationId xmlns:a16="http://schemas.microsoft.com/office/drawing/2014/main" id="{59FD22A9-1CE9-742C-598C-517FC71A866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5200"/>
          <a:stretch>
            <a:fillRect/>
          </a:stretch>
        </p:blipFill>
        <p:spPr>
          <a:xfrm>
            <a:off x="20" y="10"/>
            <a:ext cx="8668492" cy="685799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7CCFC2C6-6238-4A2F-93DE-2ADF74AF63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711652" y="0"/>
            <a:ext cx="8480347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07DF661-680C-7872-5700-2F4E603490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51764" y="1122363"/>
            <a:ext cx="6420196" cy="320413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400" dirty="0"/>
              <a:t>https://detectfakes.kellogg.northwestern.edu/</a:t>
            </a:r>
            <a:br>
              <a:rPr lang="en-US" sz="4400" dirty="0"/>
            </a:br>
            <a:r>
              <a:rPr lang="en-US" sz="4400" dirty="0">
                <a:solidFill>
                  <a:srgbClr val="FF0000"/>
                </a:solidFill>
              </a:rPr>
              <a:t>What is our score: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6495D2-FE55-8BEE-70DD-EEADF5D170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76810" y="1734868"/>
            <a:ext cx="6357851" cy="1208141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800" dirty="0">
                <a:solidFill>
                  <a:schemeClr val="tx1"/>
                </a:solidFill>
              </a:rPr>
              <a:t>Let us try this Experiment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130540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51648" y="4546920"/>
            <a:ext cx="402336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428483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9CC12FF-78F3-DBCA-B18A-D32EE3B259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3597" y="870384"/>
            <a:ext cx="9942716" cy="1554480"/>
          </a:xfrm>
        </p:spPr>
        <p:txBody>
          <a:bodyPr anchor="ctr">
            <a:normAutofit/>
          </a:bodyPr>
          <a:lstStyle/>
          <a:p>
            <a:r>
              <a:rPr lang="en-GB" sz="4800" dirty="0"/>
              <a:t>Privacy concerns with Facebook</a:t>
            </a:r>
            <a:br>
              <a:rPr lang="en-GB" sz="4800" dirty="0"/>
            </a:br>
            <a:endParaRPr lang="en-GB" sz="4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243A7B-27FE-0617-45B8-D34963C997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743083"/>
            <a:ext cx="10633364" cy="3879268"/>
          </a:xfrm>
        </p:spPr>
        <p:txBody>
          <a:bodyPr anchor="ctr">
            <a:normAutofit/>
          </a:bodyPr>
          <a:lstStyle/>
          <a:p>
            <a:pPr algn="just"/>
            <a:r>
              <a:rPr lang="en-GB" sz="2400" dirty="0"/>
              <a:t>Meta (formerly known as </a:t>
            </a:r>
            <a:r>
              <a:rPr lang="en-GB" sz="2400" dirty="0">
                <a:hlinkClick r:id="rId2" tooltip="Facebook"/>
              </a:rPr>
              <a:t>Facebook</a:t>
            </a:r>
            <a:r>
              <a:rPr lang="en-GB" sz="2400" dirty="0"/>
              <a:t>), has faced a number of privacy concerns. These stem partly from the company's revenue model that involves selling information collected about its users for many things including advertisement targeting.</a:t>
            </a:r>
          </a:p>
          <a:p>
            <a:pPr algn="just"/>
            <a:r>
              <a:rPr lang="en-GB" sz="2400" dirty="0"/>
              <a:t>In </a:t>
            </a:r>
            <a:r>
              <a:rPr lang="en-GB" sz="2400" b="1" dirty="0"/>
              <a:t>September 2024</a:t>
            </a:r>
            <a:r>
              <a:rPr lang="en-GB" sz="2400" dirty="0"/>
              <a:t>, the </a:t>
            </a:r>
            <a:r>
              <a:rPr lang="en-GB" sz="2400" b="1" dirty="0"/>
              <a:t>U.S. Federal Trade Commission (FTC)</a:t>
            </a:r>
            <a:r>
              <a:rPr lang="en-GB" sz="2400" dirty="0"/>
              <a:t> published a report reviewing how nine major companies — including </a:t>
            </a:r>
            <a:r>
              <a:rPr lang="en-GB" sz="2400" b="1" dirty="0"/>
              <a:t>Facebook</a:t>
            </a:r>
            <a:r>
              <a:rPr lang="en-GB" sz="2400" dirty="0"/>
              <a:t> — collect and use data from both users and non-users, including </a:t>
            </a:r>
            <a:r>
              <a:rPr lang="en-GB" sz="2400" b="1" dirty="0"/>
              <a:t>children and teenagers</a:t>
            </a:r>
            <a:r>
              <a:rPr lang="en-GB" sz="2400" dirty="0"/>
              <a:t>. The report found that these data practices </a:t>
            </a:r>
            <a:r>
              <a:rPr lang="en-GB" sz="2400" b="1" dirty="0"/>
              <a:t>expose individuals to serious risks</a:t>
            </a:r>
            <a:r>
              <a:rPr lang="en-GB" sz="2400" dirty="0"/>
              <a:t>, such as </a:t>
            </a:r>
            <a:r>
              <a:rPr lang="en-GB" sz="2400" b="1" dirty="0"/>
              <a:t>identity theft, stalking, discrimination, emotional distress, mental health problems, social stigma, and reputational harm</a:t>
            </a:r>
            <a:r>
              <a:rPr lang="en-GB" sz="2400" dirty="0"/>
              <a:t>.</a:t>
            </a:r>
          </a:p>
          <a:p>
            <a:endParaRPr lang="en-GB" sz="2000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 descr="Meta to end fact-checking program on Facebook and Instagram : NPR">
            <a:extLst>
              <a:ext uri="{FF2B5EF4-FFF2-40B4-BE49-F238E27FC236}">
                <a16:creationId xmlns:a16="http://schemas.microsoft.com/office/drawing/2014/main" id="{005E5F79-5F40-15D2-76D6-3D58F69783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52189" y="681789"/>
            <a:ext cx="2619375" cy="174307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16693887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55" name="Rectangle 2054">
            <a:extLst>
              <a:ext uri="{FF2B5EF4-FFF2-40B4-BE49-F238E27FC236}">
                <a16:creationId xmlns:a16="http://schemas.microsoft.com/office/drawing/2014/main" id="{117AB3D3-3C9C-4DED-809A-78734805B8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82EBB46-0A34-2916-AB35-2B4E9C6F26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en-GB" sz="4100" b="1" dirty="0"/>
              <a:t>Thirsty for Power and Water</a:t>
            </a:r>
            <a:br>
              <a:rPr lang="en-GB" sz="4100" b="1" dirty="0"/>
            </a:br>
            <a:endParaRPr lang="en-GB" sz="4100" dirty="0"/>
          </a:p>
        </p:txBody>
      </p:sp>
      <p:sp>
        <p:nvSpPr>
          <p:cNvPr id="2057" name="Rectangle 2056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59" name="Rectangle 2058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6E6E7-10A3-CC13-9039-ADC038E0FE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5295" y="2162619"/>
            <a:ext cx="5364684" cy="4035880"/>
          </a:xfrm>
        </p:spPr>
        <p:txBody>
          <a:bodyPr anchor="ctr">
            <a:normAutofit/>
          </a:bodyPr>
          <a:lstStyle/>
          <a:p>
            <a:r>
              <a:rPr lang="en-GB" sz="2000" dirty="0"/>
              <a:t>Data </a:t>
            </a:r>
            <a:r>
              <a:rPr lang="en-GB" sz="2000" dirty="0" err="1"/>
              <a:t>center</a:t>
            </a:r>
            <a:r>
              <a:rPr lang="en-GB" sz="2000" dirty="0"/>
              <a:t> developers are increasingly tapping into freshwater resources to quench the thirst of data </a:t>
            </a:r>
            <a:r>
              <a:rPr lang="en-GB" sz="2000" dirty="0" err="1"/>
              <a:t>centers</a:t>
            </a:r>
            <a:r>
              <a:rPr lang="en-GB" sz="2000" dirty="0"/>
              <a:t>, which is putting nearby communities at risk.</a:t>
            </a:r>
          </a:p>
          <a:p>
            <a:r>
              <a:rPr lang="en-GB" sz="2000" dirty="0"/>
              <a:t>Large data </a:t>
            </a:r>
            <a:r>
              <a:rPr lang="en-GB" sz="2000" dirty="0" err="1"/>
              <a:t>centers</a:t>
            </a:r>
            <a:r>
              <a:rPr lang="en-GB" sz="2000" dirty="0"/>
              <a:t> can consume up to 5 million gallons </a:t>
            </a:r>
            <a:r>
              <a:rPr lang="en-GB" sz="2000" i="1" dirty="0"/>
              <a:t>per day</a:t>
            </a:r>
            <a:r>
              <a:rPr lang="en-GB" sz="2000" dirty="0"/>
              <a:t>, equivalent to the water use of a town populated by 10,000 to 50,000 people.</a:t>
            </a:r>
          </a:p>
          <a:p>
            <a:r>
              <a:rPr lang="en-GB" sz="2000" b="1" dirty="0"/>
              <a:t>How much water for one prompt for ChatGPT? (Search  in couples)</a:t>
            </a:r>
          </a:p>
          <a:p>
            <a:endParaRPr lang="en-GB" sz="2000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F6EE13A8-53BA-2EC0-9515-578EDA984C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00" r="4742"/>
          <a:stretch>
            <a:fillRect/>
          </a:stretch>
        </p:blipFill>
        <p:spPr bwMode="auto">
          <a:xfrm>
            <a:off x="5911532" y="2484255"/>
            <a:ext cx="5150277" cy="37142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61" name="Rectangle 2060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45177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98AC6A4-EA7E-061C-B69C-E375ABFCE2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en-GB" sz="4800" b="1"/>
              <a:t>Obama’s effort to ‘nudge’ America</a:t>
            </a:r>
            <a:br>
              <a:rPr lang="en-GB" sz="4800" b="1"/>
            </a:br>
            <a:endParaRPr lang="en-GB" sz="48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09E072-133E-0FA0-512B-B04443B9FE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2508070"/>
            <a:ext cx="9941319" cy="3124658"/>
          </a:xfrm>
        </p:spPr>
        <p:txBody>
          <a:bodyPr anchor="ctr">
            <a:normAutofit lnSpcReduction="10000"/>
          </a:bodyPr>
          <a:lstStyle/>
          <a:p>
            <a:pPr marL="0" indent="0">
              <a:buNone/>
            </a:pPr>
            <a:endParaRPr lang="en-GB" sz="2400" dirty="0"/>
          </a:p>
          <a:p>
            <a:r>
              <a:rPr lang="en-GB" sz="3200" dirty="0"/>
              <a:t>Nudging” = using </a:t>
            </a:r>
            <a:r>
              <a:rPr lang="en-GB" sz="3200" b="1" dirty="0"/>
              <a:t>psychology to influence </a:t>
            </a:r>
            <a:r>
              <a:rPr lang="en-GB" sz="3200" b="1" dirty="0" err="1"/>
              <a:t>behavior</a:t>
            </a:r>
            <a:r>
              <a:rPr lang="en-GB" sz="3200" dirty="0"/>
              <a:t> without changing rules.</a:t>
            </a:r>
          </a:p>
          <a:p>
            <a:r>
              <a:rPr lang="en-GB" sz="3200" dirty="0"/>
              <a:t>Example: Making people </a:t>
            </a:r>
            <a:r>
              <a:rPr lang="en-GB" sz="3200" i="1" dirty="0"/>
              <a:t>opt out</a:t>
            </a:r>
            <a:r>
              <a:rPr lang="en-GB" sz="3200" dirty="0"/>
              <a:t> of organ donation instead of </a:t>
            </a:r>
            <a:r>
              <a:rPr lang="en-GB" sz="3200" i="1" dirty="0"/>
              <a:t>opting in</a:t>
            </a:r>
            <a:r>
              <a:rPr lang="en-GB" sz="3200" dirty="0"/>
              <a:t> — increases participation.</a:t>
            </a:r>
          </a:p>
          <a:p>
            <a:r>
              <a:rPr lang="en-GB" sz="3200" dirty="0"/>
              <a:t>Goal: Make government policies more effective by adjusting how choices are presented.</a:t>
            </a:r>
          </a:p>
          <a:p>
            <a:endParaRPr lang="en-GB" sz="2400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858003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A242B8E-0F3D-688D-58E2-763FE3C435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6299389-4F78-309C-6EC9-14F2E1AFDE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en-GB" sz="4800" b="1"/>
              <a:t>Obama’s effort to ‘nudge’ America</a:t>
            </a:r>
            <a:br>
              <a:rPr lang="en-GB" sz="4800" b="1"/>
            </a:br>
            <a:endParaRPr lang="en-GB" sz="48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E02A05-7F25-6103-FC06-0BB2E56C08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anchor="ctr">
            <a:normAutofit/>
          </a:bodyPr>
          <a:lstStyle/>
          <a:p>
            <a:r>
              <a:rPr lang="en-GB" sz="2400"/>
              <a:t>The Obama administration has been running an experiment: Is it possible to make policy more effective by using psychology on citizens?</a:t>
            </a:r>
          </a:p>
          <a:p>
            <a:r>
              <a:rPr lang="en-GB" sz="2400"/>
              <a:t>President </a:t>
            </a:r>
            <a:r>
              <a:rPr lang="en-GB" sz="2400" b="1"/>
              <a:t>Obama</a:t>
            </a:r>
            <a:r>
              <a:rPr lang="en-GB" sz="2400"/>
              <a:t> was inspired by behavioral scientists </a:t>
            </a:r>
            <a:r>
              <a:rPr lang="en-GB" sz="2400" b="1"/>
              <a:t>Cass Sunstein</a:t>
            </a:r>
            <a:r>
              <a:rPr lang="en-GB" sz="2400"/>
              <a:t> and </a:t>
            </a:r>
            <a:r>
              <a:rPr lang="en-GB" sz="2400" b="1"/>
              <a:t>Richard Thaler</a:t>
            </a:r>
            <a:r>
              <a:rPr lang="en-GB" sz="2400"/>
              <a:t> (authors of </a:t>
            </a:r>
            <a:r>
              <a:rPr lang="en-GB" sz="2400" i="1"/>
              <a:t>Nudge</a:t>
            </a:r>
            <a:r>
              <a:rPr lang="en-GB" sz="2400"/>
              <a:t>).</a:t>
            </a:r>
          </a:p>
          <a:p>
            <a:r>
              <a:rPr lang="en-GB" sz="2400"/>
              <a:t>Created the </a:t>
            </a:r>
            <a:r>
              <a:rPr lang="en-GB" sz="2400" b="1"/>
              <a:t>Social and Behavioral Science Team (SBST)</a:t>
            </a:r>
            <a:r>
              <a:rPr lang="en-GB" sz="2400"/>
              <a:t> to test the idea across federal agencies.</a:t>
            </a:r>
          </a:p>
          <a:p>
            <a:r>
              <a:rPr lang="en-GB" sz="2400"/>
              <a:t>1st annual report (after one year) reviewed </a:t>
            </a:r>
            <a:r>
              <a:rPr lang="en-GB" sz="2400" b="1"/>
              <a:t>15 small “proof-of-concept” projects</a:t>
            </a:r>
            <a:r>
              <a:rPr lang="en-GB" sz="2400"/>
              <a:t>.</a:t>
            </a:r>
          </a:p>
          <a:p>
            <a:endParaRPr lang="en-GB" sz="240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627085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FF3EDB-DAA6-DB2D-A883-19ADD5CE85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5928" y="1463555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n-GB" b="1" dirty="0"/>
              <a:t>What is Bias and Fairness in LLMs?</a:t>
            </a:r>
            <a:br>
              <a:rPr lang="en-GB" b="1" dirty="0"/>
            </a:br>
            <a:r>
              <a:rPr lang="en-GB" sz="3600" b="1" dirty="0"/>
              <a:t>Bias</a:t>
            </a:r>
            <a:r>
              <a:rPr lang="en-GB" sz="3600" dirty="0"/>
              <a:t> in AI refers to systematic errors or tendencies that a model might make regarding its predictions that unfairly favour one group and disadvantage another. </a:t>
            </a:r>
            <a:br>
              <a:rPr lang="en-US" dirty="0"/>
            </a:br>
            <a:br>
              <a:rPr lang="en-GB" b="1" dirty="0"/>
            </a:br>
            <a:endParaRPr lang="en-GB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1137C04-EE1C-D89C-6D20-C55B7C21593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64539197"/>
              </p:ext>
            </p:extLst>
          </p:nvPr>
        </p:nvGraphicFramePr>
        <p:xfrm>
          <a:off x="838200" y="2195945"/>
          <a:ext cx="10515600" cy="398101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F18D7C66-8FEB-EF9F-CC49-A7C63805F43A}"/>
              </a:ext>
            </a:extLst>
          </p:cNvPr>
          <p:cNvSpPr/>
          <p:nvPr/>
        </p:nvSpPr>
        <p:spPr>
          <a:xfrm>
            <a:off x="1763186" y="5561386"/>
            <a:ext cx="9046233" cy="1019523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b="1" dirty="0">
                <a:solidFill>
                  <a:schemeClr val="tx1"/>
                </a:solidFill>
              </a:rPr>
              <a:t>Let us try it: Generate a photo of a leader/pilot: https://www.imagine.art/image</a:t>
            </a:r>
          </a:p>
        </p:txBody>
      </p:sp>
    </p:spTree>
    <p:extLst>
      <p:ext uri="{BB962C8B-B14F-4D97-AF65-F5344CB8AC3E}">
        <p14:creationId xmlns:p14="http://schemas.microsoft.com/office/powerpoint/2010/main" val="20894071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3F100B-9F8E-D152-0535-1CC3B8FEF1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Pilot and Leader: Any Bias?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F643242-8047-0A0E-D600-557F65C1BA7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84207" y="1531360"/>
            <a:ext cx="10515600" cy="267951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BC427DE-B043-5E07-AE04-7562FEE020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4207" y="4210872"/>
            <a:ext cx="10587357" cy="2730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29612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6E9B3E6-E277-4D68-BA48-9CB43FFBD6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157FA2-0C2F-EC69-9848-4796A7CBD7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10173010" cy="1554480"/>
          </a:xfrm>
        </p:spPr>
        <p:txBody>
          <a:bodyPr anchor="ctr">
            <a:normAutofit/>
          </a:bodyPr>
          <a:lstStyle/>
          <a:p>
            <a:r>
              <a:rPr lang="en-GB" sz="4800" i="1"/>
              <a:t>Why We Need Technology Regulation</a:t>
            </a:r>
            <a:br>
              <a:rPr lang="en-GB" sz="4800"/>
            </a:br>
            <a:endParaRPr lang="en-GB" sz="480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261D32D-9EBC-C660-9846-C22AFDE65BD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98276829"/>
              </p:ext>
            </p:extLst>
          </p:nvPr>
        </p:nvGraphicFramePr>
        <p:xfrm>
          <a:off x="904602" y="3017519"/>
          <a:ext cx="10378440" cy="32099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135262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637B2035-1FCB-439A-B421-095E136C7E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76D6CDF-C512-4739-B158-55EE955EFA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503" y="-1"/>
            <a:ext cx="12192000" cy="6857999"/>
          </a:xfrm>
          <a:prstGeom prst="rect">
            <a:avLst/>
          </a:pr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4D89FF-3D3E-386D-F16B-AFC3139E4B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327" y="268778"/>
            <a:ext cx="5992091" cy="2434590"/>
          </a:xfrm>
        </p:spPr>
        <p:txBody>
          <a:bodyPr anchor="t">
            <a:normAutofit/>
          </a:bodyPr>
          <a:lstStyle/>
          <a:p>
            <a:r>
              <a:rPr lang="en-GB" sz="2100" b="1" dirty="0"/>
              <a:t>The EU Artificial Intelligence (AI) Act</a:t>
            </a:r>
            <a:br>
              <a:rPr lang="en-GB" sz="2100" b="1" dirty="0"/>
            </a:br>
            <a:br>
              <a:rPr lang="en-GB" sz="2100" b="1" dirty="0"/>
            </a:br>
            <a:r>
              <a:rPr lang="en-GB" sz="2100" dirty="0"/>
              <a:t>The AI Act is the </a:t>
            </a:r>
            <a:r>
              <a:rPr lang="en-GB" sz="2100" b="1" dirty="0"/>
              <a:t>first comprehensive regulation on artificial intelligence</a:t>
            </a:r>
            <a:r>
              <a:rPr lang="en-GB" sz="2100" dirty="0"/>
              <a:t> introduced by a major global regulator — the European Union. It aims to ensure that AI technologies are safe, transparent, and aligned with fundamental rights.</a:t>
            </a:r>
          </a:p>
        </p:txBody>
      </p:sp>
      <p:pic>
        <p:nvPicPr>
          <p:cNvPr id="5" name="Picture 4" descr="Robot operating a machine">
            <a:extLst>
              <a:ext uri="{FF2B5EF4-FFF2-40B4-BE49-F238E27FC236}">
                <a16:creationId xmlns:a16="http://schemas.microsoft.com/office/drawing/2014/main" id="{5203914C-9664-5EF4-B8E6-E889E6AEE18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155" b="22017"/>
          <a:stretch>
            <a:fillRect/>
          </a:stretch>
        </p:blipFill>
        <p:spPr>
          <a:xfrm>
            <a:off x="1" y="3105151"/>
            <a:ext cx="6448424" cy="3752849"/>
          </a:xfrm>
          <a:custGeom>
            <a:avLst/>
            <a:gdLst/>
            <a:ahLst/>
            <a:cxnLst/>
            <a:rect l="l" t="t" r="r" b="b"/>
            <a:pathLst>
              <a:path w="6448424" h="3752849">
                <a:moveTo>
                  <a:pt x="0" y="0"/>
                </a:moveTo>
                <a:lnTo>
                  <a:pt x="137978" y="22215"/>
                </a:lnTo>
                <a:cubicBezTo>
                  <a:pt x="196046" y="32277"/>
                  <a:pt x="252469" y="42437"/>
                  <a:pt x="295660" y="49771"/>
                </a:cubicBezTo>
                <a:cubicBezTo>
                  <a:pt x="364885" y="66610"/>
                  <a:pt x="403214" y="32071"/>
                  <a:pt x="456941" y="65635"/>
                </a:cubicBezTo>
                <a:cubicBezTo>
                  <a:pt x="529612" y="69090"/>
                  <a:pt x="662508" y="71245"/>
                  <a:pt x="731691" y="70501"/>
                </a:cubicBezTo>
                <a:cubicBezTo>
                  <a:pt x="768741" y="62400"/>
                  <a:pt x="808263" y="64633"/>
                  <a:pt x="841820" y="61171"/>
                </a:cubicBezTo>
                <a:cubicBezTo>
                  <a:pt x="958973" y="43639"/>
                  <a:pt x="1009730" y="45863"/>
                  <a:pt x="1068219" y="39136"/>
                </a:cubicBezTo>
                <a:cubicBezTo>
                  <a:pt x="1104329" y="33447"/>
                  <a:pt x="1156536" y="44203"/>
                  <a:pt x="1174190" y="38808"/>
                </a:cubicBezTo>
                <a:cubicBezTo>
                  <a:pt x="1188943" y="36385"/>
                  <a:pt x="1213832" y="14880"/>
                  <a:pt x="1225923" y="34507"/>
                </a:cubicBezTo>
                <a:cubicBezTo>
                  <a:pt x="1305283" y="8501"/>
                  <a:pt x="1319617" y="30839"/>
                  <a:pt x="1385617" y="18003"/>
                </a:cubicBezTo>
                <a:cubicBezTo>
                  <a:pt x="1461876" y="-26747"/>
                  <a:pt x="1519510" y="56342"/>
                  <a:pt x="1563967" y="4638"/>
                </a:cubicBezTo>
                <a:lnTo>
                  <a:pt x="1676634" y="10582"/>
                </a:lnTo>
                <a:lnTo>
                  <a:pt x="1769429" y="20265"/>
                </a:lnTo>
                <a:cubicBezTo>
                  <a:pt x="1790625" y="23534"/>
                  <a:pt x="1880369" y="18448"/>
                  <a:pt x="1900584" y="27732"/>
                </a:cubicBezTo>
                <a:cubicBezTo>
                  <a:pt x="2072430" y="22762"/>
                  <a:pt x="2014935" y="5831"/>
                  <a:pt x="2127041" y="22101"/>
                </a:cubicBezTo>
                <a:cubicBezTo>
                  <a:pt x="2168847" y="65820"/>
                  <a:pt x="2153052" y="28773"/>
                  <a:pt x="2211644" y="44507"/>
                </a:cubicBezTo>
                <a:cubicBezTo>
                  <a:pt x="2211201" y="9921"/>
                  <a:pt x="2277596" y="73686"/>
                  <a:pt x="2299605" y="38004"/>
                </a:cubicBezTo>
                <a:cubicBezTo>
                  <a:pt x="2309570" y="41997"/>
                  <a:pt x="2318531" y="46991"/>
                  <a:pt x="2327359" y="52270"/>
                </a:cubicBezTo>
                <a:lnTo>
                  <a:pt x="2331995" y="55017"/>
                </a:lnTo>
                <a:lnTo>
                  <a:pt x="2353777" y="59755"/>
                </a:lnTo>
                <a:lnTo>
                  <a:pt x="2355893" y="68914"/>
                </a:lnTo>
                <a:lnTo>
                  <a:pt x="2385794" y="81650"/>
                </a:lnTo>
                <a:cubicBezTo>
                  <a:pt x="2397613" y="85211"/>
                  <a:pt x="2411061" y="87627"/>
                  <a:pt x="2427010" y="88184"/>
                </a:cubicBezTo>
                <a:cubicBezTo>
                  <a:pt x="2486314" y="76422"/>
                  <a:pt x="2553170" y="126870"/>
                  <a:pt x="2627153" y="110451"/>
                </a:cubicBezTo>
                <a:cubicBezTo>
                  <a:pt x="2653722" y="107383"/>
                  <a:pt x="2732043" y="116068"/>
                  <a:pt x="2744462" y="128780"/>
                </a:cubicBezTo>
                <a:cubicBezTo>
                  <a:pt x="2760299" y="132873"/>
                  <a:pt x="2780248" y="130843"/>
                  <a:pt x="2785202" y="143610"/>
                </a:cubicBezTo>
                <a:cubicBezTo>
                  <a:pt x="2794558" y="159316"/>
                  <a:pt x="2856498" y="142821"/>
                  <a:pt x="2844667" y="159029"/>
                </a:cubicBezTo>
                <a:cubicBezTo>
                  <a:pt x="2888530" y="147871"/>
                  <a:pt x="2914187" y="181391"/>
                  <a:pt x="2946649" y="192330"/>
                </a:cubicBezTo>
                <a:cubicBezTo>
                  <a:pt x="2981872" y="180417"/>
                  <a:pt x="3015239" y="215115"/>
                  <a:pt x="3088812" y="226485"/>
                </a:cubicBezTo>
                <a:cubicBezTo>
                  <a:pt x="3127734" y="212524"/>
                  <a:pt x="3138301" y="234381"/>
                  <a:pt x="3208669" y="217774"/>
                </a:cubicBezTo>
                <a:cubicBezTo>
                  <a:pt x="3242208" y="219284"/>
                  <a:pt x="3229623" y="233297"/>
                  <a:pt x="3290045" y="235553"/>
                </a:cubicBezTo>
                <a:cubicBezTo>
                  <a:pt x="3399655" y="215239"/>
                  <a:pt x="3444518" y="245862"/>
                  <a:pt x="3529335" y="249571"/>
                </a:cubicBezTo>
                <a:cubicBezTo>
                  <a:pt x="3623697" y="257405"/>
                  <a:pt x="3587652" y="268832"/>
                  <a:pt x="3716766" y="252690"/>
                </a:cubicBezTo>
                <a:cubicBezTo>
                  <a:pt x="3723469" y="267318"/>
                  <a:pt x="3737863" y="269842"/>
                  <a:pt x="3765333" y="266823"/>
                </a:cubicBezTo>
                <a:cubicBezTo>
                  <a:pt x="3810754" y="271601"/>
                  <a:pt x="3792745" y="303866"/>
                  <a:pt x="3846897" y="290090"/>
                </a:cubicBezTo>
                <a:cubicBezTo>
                  <a:pt x="3830941" y="306608"/>
                  <a:pt x="3929114" y="308026"/>
                  <a:pt x="3900217" y="323590"/>
                </a:cubicBezTo>
                <a:cubicBezTo>
                  <a:pt x="3922367" y="343425"/>
                  <a:pt x="3948574" y="318948"/>
                  <a:pt x="3971444" y="336662"/>
                </a:cubicBezTo>
                <a:cubicBezTo>
                  <a:pt x="4002781" y="344193"/>
                  <a:pt x="3960997" y="315419"/>
                  <a:pt x="3997868" y="318867"/>
                </a:cubicBezTo>
                <a:cubicBezTo>
                  <a:pt x="4041159" y="326219"/>
                  <a:pt x="4055435" y="293981"/>
                  <a:pt x="4070852" y="339615"/>
                </a:cubicBezTo>
                <a:cubicBezTo>
                  <a:pt x="4121286" y="335828"/>
                  <a:pt x="4121920" y="355506"/>
                  <a:pt x="4180483" y="373369"/>
                </a:cubicBezTo>
                <a:cubicBezTo>
                  <a:pt x="4211379" y="366707"/>
                  <a:pt x="4230171" y="374664"/>
                  <a:pt x="4246264" y="387458"/>
                </a:cubicBezTo>
                <a:cubicBezTo>
                  <a:pt x="4308508" y="393310"/>
                  <a:pt x="4357326" y="416142"/>
                  <a:pt x="4423169" y="431783"/>
                </a:cubicBezTo>
                <a:lnTo>
                  <a:pt x="4446752" y="435383"/>
                </a:lnTo>
                <a:lnTo>
                  <a:pt x="4446954" y="435566"/>
                </a:lnTo>
                <a:cubicBezTo>
                  <a:pt x="4508528" y="480137"/>
                  <a:pt x="4617740" y="529869"/>
                  <a:pt x="4662523" y="553169"/>
                </a:cubicBezTo>
                <a:cubicBezTo>
                  <a:pt x="4720320" y="547046"/>
                  <a:pt x="4678644" y="560102"/>
                  <a:pt x="4715641" y="575354"/>
                </a:cubicBezTo>
                <a:cubicBezTo>
                  <a:pt x="4682056" y="593278"/>
                  <a:pt x="4768370" y="586520"/>
                  <a:pt x="4742071" y="614016"/>
                </a:cubicBezTo>
                <a:cubicBezTo>
                  <a:pt x="4749637" y="615922"/>
                  <a:pt x="4757797" y="616899"/>
                  <a:pt x="4766183" y="617675"/>
                </a:cubicBezTo>
                <a:lnTo>
                  <a:pt x="4770562" y="618094"/>
                </a:lnTo>
                <a:lnTo>
                  <a:pt x="4783240" y="624350"/>
                </a:lnTo>
                <a:lnTo>
                  <a:pt x="4792882" y="620401"/>
                </a:lnTo>
                <a:lnTo>
                  <a:pt x="4816310" y="625721"/>
                </a:lnTo>
                <a:cubicBezTo>
                  <a:pt x="4824144" y="628595"/>
                  <a:pt x="4831482" y="632720"/>
                  <a:pt x="4837953" y="638824"/>
                </a:cubicBezTo>
                <a:cubicBezTo>
                  <a:pt x="4848645" y="668753"/>
                  <a:pt x="4922266" y="669148"/>
                  <a:pt x="4933914" y="707398"/>
                </a:cubicBezTo>
                <a:cubicBezTo>
                  <a:pt x="4940833" y="719653"/>
                  <a:pt x="4978358" y="746502"/>
                  <a:pt x="4995259" y="744825"/>
                </a:cubicBezTo>
                <a:cubicBezTo>
                  <a:pt x="5005107" y="749034"/>
                  <a:pt x="5010567" y="758092"/>
                  <a:pt x="5024744" y="753396"/>
                </a:cubicBezTo>
                <a:cubicBezTo>
                  <a:pt x="5047511" y="761361"/>
                  <a:pt x="5109162" y="783016"/>
                  <a:pt x="5131877" y="792613"/>
                </a:cubicBezTo>
                <a:cubicBezTo>
                  <a:pt x="5132671" y="802792"/>
                  <a:pt x="5144554" y="806683"/>
                  <a:pt x="5161031" y="810975"/>
                </a:cubicBezTo>
                <a:lnTo>
                  <a:pt x="5176815" y="815342"/>
                </a:lnTo>
                <a:lnTo>
                  <a:pt x="5180064" y="831233"/>
                </a:lnTo>
                <a:cubicBezTo>
                  <a:pt x="5202966" y="819270"/>
                  <a:pt x="5188976" y="863361"/>
                  <a:pt x="5215059" y="865080"/>
                </a:cubicBezTo>
                <a:cubicBezTo>
                  <a:pt x="5235765" y="864786"/>
                  <a:pt x="5236347" y="878098"/>
                  <a:pt x="5245643" y="887119"/>
                </a:cubicBezTo>
                <a:cubicBezTo>
                  <a:pt x="5267660" y="891609"/>
                  <a:pt x="5295742" y="939348"/>
                  <a:pt x="5295952" y="957174"/>
                </a:cubicBezTo>
                <a:cubicBezTo>
                  <a:pt x="5284322" y="1008946"/>
                  <a:pt x="5374979" y="1038019"/>
                  <a:pt x="5367826" y="1079140"/>
                </a:cubicBezTo>
                <a:cubicBezTo>
                  <a:pt x="5371668" y="1089190"/>
                  <a:pt x="5377921" y="1097135"/>
                  <a:pt x="5385646" y="1103730"/>
                </a:cubicBezTo>
                <a:lnTo>
                  <a:pt x="5410965" y="1119397"/>
                </a:lnTo>
                <a:lnTo>
                  <a:pt x="5436960" y="1130910"/>
                </a:lnTo>
                <a:lnTo>
                  <a:pt x="5442083" y="1133134"/>
                </a:lnTo>
                <a:cubicBezTo>
                  <a:pt x="5451910" y="1137346"/>
                  <a:pt x="5457170" y="1169188"/>
                  <a:pt x="5465219" y="1174479"/>
                </a:cubicBezTo>
                <a:cubicBezTo>
                  <a:pt x="5488744" y="1195184"/>
                  <a:pt x="5467141" y="1223401"/>
                  <a:pt x="5488171" y="1238604"/>
                </a:cubicBezTo>
                <a:cubicBezTo>
                  <a:pt x="5523491" y="1271811"/>
                  <a:pt x="5486623" y="1305961"/>
                  <a:pt x="5562172" y="1320840"/>
                </a:cubicBezTo>
                <a:cubicBezTo>
                  <a:pt x="5601634" y="1385316"/>
                  <a:pt x="5636528" y="1453139"/>
                  <a:pt x="5686905" y="1512529"/>
                </a:cubicBezTo>
                <a:cubicBezTo>
                  <a:pt x="5729049" y="1575678"/>
                  <a:pt x="5699691" y="1553768"/>
                  <a:pt x="5748726" y="1623716"/>
                </a:cubicBezTo>
                <a:cubicBezTo>
                  <a:pt x="5783098" y="1689734"/>
                  <a:pt x="5789710" y="1639740"/>
                  <a:pt x="5842593" y="1726595"/>
                </a:cubicBezTo>
                <a:cubicBezTo>
                  <a:pt x="5837824" y="1733043"/>
                  <a:pt x="5862023" y="1845188"/>
                  <a:pt x="5861042" y="1851837"/>
                </a:cubicBezTo>
                <a:cubicBezTo>
                  <a:pt x="5874156" y="1887981"/>
                  <a:pt x="5901790" y="1919218"/>
                  <a:pt x="5921290" y="1943460"/>
                </a:cubicBezTo>
                <a:lnTo>
                  <a:pt x="5978046" y="1997284"/>
                </a:lnTo>
                <a:lnTo>
                  <a:pt x="5992479" y="2056720"/>
                </a:lnTo>
                <a:cubicBezTo>
                  <a:pt x="6011078" y="2079033"/>
                  <a:pt x="6072687" y="2117397"/>
                  <a:pt x="6089639" y="2131171"/>
                </a:cubicBezTo>
                <a:lnTo>
                  <a:pt x="6094199" y="2139379"/>
                </a:lnTo>
                <a:lnTo>
                  <a:pt x="6094822" y="2139386"/>
                </a:lnTo>
                <a:cubicBezTo>
                  <a:pt x="6096947" y="2140841"/>
                  <a:pt x="6098876" y="2143416"/>
                  <a:pt x="6100692" y="2147736"/>
                </a:cubicBezTo>
                <a:lnTo>
                  <a:pt x="6102516" y="2154343"/>
                </a:lnTo>
                <a:lnTo>
                  <a:pt x="6111361" y="2170264"/>
                </a:lnTo>
                <a:lnTo>
                  <a:pt x="6215475" y="2270153"/>
                </a:lnTo>
                <a:lnTo>
                  <a:pt x="6255966" y="2335401"/>
                </a:lnTo>
                <a:lnTo>
                  <a:pt x="6272711" y="2385144"/>
                </a:lnTo>
                <a:cubicBezTo>
                  <a:pt x="6282320" y="2406495"/>
                  <a:pt x="6299066" y="2405139"/>
                  <a:pt x="6304347" y="2439388"/>
                </a:cubicBezTo>
                <a:cubicBezTo>
                  <a:pt x="6297131" y="2486231"/>
                  <a:pt x="6325530" y="2500962"/>
                  <a:pt x="6326729" y="2549400"/>
                </a:cubicBezTo>
                <a:cubicBezTo>
                  <a:pt x="6325926" y="2572066"/>
                  <a:pt x="6339111" y="2599957"/>
                  <a:pt x="6344663" y="2628839"/>
                </a:cubicBezTo>
                <a:lnTo>
                  <a:pt x="6375811" y="2639204"/>
                </a:lnTo>
                <a:cubicBezTo>
                  <a:pt x="6375427" y="2643533"/>
                  <a:pt x="6375041" y="2647863"/>
                  <a:pt x="6374657" y="2652193"/>
                </a:cubicBezTo>
                <a:cubicBezTo>
                  <a:pt x="6373555" y="2658134"/>
                  <a:pt x="6371943" y="2662665"/>
                  <a:pt x="6369740" y="2664642"/>
                </a:cubicBezTo>
                <a:cubicBezTo>
                  <a:pt x="6368032" y="2674540"/>
                  <a:pt x="6371528" y="2686899"/>
                  <a:pt x="6361964" y="2690172"/>
                </a:cubicBezTo>
                <a:cubicBezTo>
                  <a:pt x="6350507" y="2696218"/>
                  <a:pt x="6369375" y="2734440"/>
                  <a:pt x="6355511" y="2727335"/>
                </a:cubicBezTo>
                <a:cubicBezTo>
                  <a:pt x="6358746" y="2734104"/>
                  <a:pt x="6360434" y="2742096"/>
                  <a:pt x="6361058" y="2750592"/>
                </a:cubicBezTo>
                <a:cubicBezTo>
                  <a:pt x="6361013" y="2751998"/>
                  <a:pt x="6360970" y="2753408"/>
                  <a:pt x="6360926" y="2754814"/>
                </a:cubicBezTo>
                <a:lnTo>
                  <a:pt x="6339285" y="2810353"/>
                </a:lnTo>
                <a:cubicBezTo>
                  <a:pt x="6360091" y="2854187"/>
                  <a:pt x="6313103" y="2870086"/>
                  <a:pt x="6325672" y="2908809"/>
                </a:cubicBezTo>
                <a:cubicBezTo>
                  <a:pt x="6341563" y="2966972"/>
                  <a:pt x="6291836" y="2935388"/>
                  <a:pt x="6333498" y="3009772"/>
                </a:cubicBezTo>
                <a:cubicBezTo>
                  <a:pt x="6345476" y="3039254"/>
                  <a:pt x="6345955" y="3068963"/>
                  <a:pt x="6334947" y="3095405"/>
                </a:cubicBezTo>
                <a:lnTo>
                  <a:pt x="6344768" y="3155941"/>
                </a:lnTo>
                <a:cubicBezTo>
                  <a:pt x="6348643" y="3153663"/>
                  <a:pt x="6311793" y="3186588"/>
                  <a:pt x="6314754" y="3197987"/>
                </a:cubicBezTo>
                <a:cubicBezTo>
                  <a:pt x="6318695" y="3221971"/>
                  <a:pt x="6319257" y="3226752"/>
                  <a:pt x="6304230" y="3239690"/>
                </a:cubicBezTo>
                <a:cubicBezTo>
                  <a:pt x="6306321" y="3248567"/>
                  <a:pt x="6307305" y="3254005"/>
                  <a:pt x="6308837" y="3264003"/>
                </a:cubicBezTo>
                <a:cubicBezTo>
                  <a:pt x="6301812" y="3288243"/>
                  <a:pt x="6298529" y="3302527"/>
                  <a:pt x="6309285" y="3324103"/>
                </a:cubicBezTo>
                <a:cubicBezTo>
                  <a:pt x="6301188" y="3343007"/>
                  <a:pt x="6329285" y="3359307"/>
                  <a:pt x="6342503" y="3405661"/>
                </a:cubicBezTo>
                <a:cubicBezTo>
                  <a:pt x="6338012" y="3447477"/>
                  <a:pt x="6408325" y="3505721"/>
                  <a:pt x="6401531" y="3550593"/>
                </a:cubicBezTo>
                <a:cubicBezTo>
                  <a:pt x="6395655" y="3579549"/>
                  <a:pt x="6423437" y="3594758"/>
                  <a:pt x="6427705" y="3624684"/>
                </a:cubicBezTo>
                <a:cubicBezTo>
                  <a:pt x="6416402" y="3629199"/>
                  <a:pt x="6435787" y="3639516"/>
                  <a:pt x="6448424" y="3657106"/>
                </a:cubicBezTo>
                <a:lnTo>
                  <a:pt x="6444014" y="3752742"/>
                </a:lnTo>
                <a:cubicBezTo>
                  <a:pt x="6443990" y="3752777"/>
                  <a:pt x="6443967" y="3752813"/>
                  <a:pt x="6443946" y="3752849"/>
                </a:cubicBezTo>
                <a:lnTo>
                  <a:pt x="0" y="3752849"/>
                </a:lnTo>
                <a:close/>
              </a:path>
            </a:pathLst>
          </a:cu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978760-BF54-CC98-D0FD-FCBF1895AB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97004" y="670559"/>
            <a:ext cx="4555782" cy="5445076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GB" sz="1400" b="1" dirty="0"/>
              <a:t>AI Applications Are Classified into Three Risk Categories:</a:t>
            </a:r>
            <a:endParaRPr lang="en-GB" sz="1400" dirty="0"/>
          </a:p>
          <a:p>
            <a:r>
              <a:rPr lang="en-GB" sz="1400" b="1" dirty="0"/>
              <a:t>Unacceptable Risk – Banned Applications</a:t>
            </a:r>
            <a:endParaRPr lang="en-GB" sz="1400" dirty="0"/>
          </a:p>
          <a:p>
            <a:pPr lvl="1"/>
            <a:r>
              <a:rPr lang="en-GB" sz="1400" dirty="0"/>
              <a:t>AI systems that pose a clear threat to people’s safety, rights, or livelihoods.</a:t>
            </a:r>
          </a:p>
          <a:p>
            <a:r>
              <a:rPr lang="en-GB" sz="1400" b="1" dirty="0"/>
              <a:t>High Risk – Strictly Regulated Applications</a:t>
            </a:r>
            <a:endParaRPr lang="en-GB" sz="1400" dirty="0"/>
          </a:p>
          <a:p>
            <a:pPr lvl="1"/>
            <a:r>
              <a:rPr lang="en-GB" sz="1400" dirty="0"/>
              <a:t>AI used in areas where errors or bias can have serious consequences.</a:t>
            </a:r>
          </a:p>
          <a:p>
            <a:pPr lvl="1"/>
            <a:r>
              <a:rPr lang="en-GB" sz="1400" dirty="0"/>
              <a:t>Example: </a:t>
            </a:r>
            <a:r>
              <a:rPr lang="en-GB" sz="1400" i="1" dirty="0"/>
              <a:t>CV-scanning tools that rank job applicants</a:t>
            </a:r>
            <a:r>
              <a:rPr lang="en-GB" sz="1400" dirty="0"/>
              <a:t>.</a:t>
            </a:r>
          </a:p>
          <a:p>
            <a:pPr lvl="1"/>
            <a:r>
              <a:rPr lang="en-GB" sz="1400" dirty="0"/>
              <a:t>These systems must meet specific legal and ethical requirements (e.g., transparency, oversight, risk management).</a:t>
            </a:r>
          </a:p>
          <a:p>
            <a:r>
              <a:rPr lang="en-GB" sz="1400" b="1" dirty="0"/>
              <a:t>Limited or Minimal Risk – Largely Unregulated</a:t>
            </a:r>
            <a:endParaRPr lang="en-GB" sz="1400" dirty="0"/>
          </a:p>
          <a:p>
            <a:pPr lvl="1"/>
            <a:r>
              <a:rPr lang="en-GB" sz="1400" dirty="0"/>
              <a:t>Applications not classified as banned or high-risk.</a:t>
            </a:r>
          </a:p>
          <a:p>
            <a:pPr lvl="1"/>
            <a:r>
              <a:rPr lang="en-GB" sz="1400" dirty="0"/>
              <a:t>Example: </a:t>
            </a:r>
            <a:r>
              <a:rPr lang="en-GB" sz="1400" i="1" dirty="0"/>
              <a:t>Chatbots, AI-based games, or recommendation systems</a:t>
            </a:r>
            <a:r>
              <a:rPr lang="en-GB" sz="1400" dirty="0"/>
              <a:t>.</a:t>
            </a:r>
          </a:p>
          <a:p>
            <a:endParaRPr lang="en-GB" sz="1400" dirty="0"/>
          </a:p>
          <a:p>
            <a:pPr algn="just"/>
            <a:r>
              <a:rPr lang="en-GB" sz="1400" b="1" dirty="0"/>
              <a:t>Can you give me an example of Banned Applications?</a:t>
            </a:r>
          </a:p>
        </p:txBody>
      </p:sp>
    </p:spTree>
    <p:extLst>
      <p:ext uri="{BB962C8B-B14F-4D97-AF65-F5344CB8AC3E}">
        <p14:creationId xmlns:p14="http://schemas.microsoft.com/office/powerpoint/2010/main" val="23793236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749</Words>
  <Application>Microsoft Office PowerPoint</Application>
  <PresentationFormat>Widescreen</PresentationFormat>
  <Paragraphs>54</Paragraphs>
  <Slides>11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Aptos</vt:lpstr>
      <vt:lpstr>Aptos Display</vt:lpstr>
      <vt:lpstr>Arial</vt:lpstr>
      <vt:lpstr>Calibri</vt:lpstr>
      <vt:lpstr>Office Theme</vt:lpstr>
      <vt:lpstr>Why Regulating Technology </vt:lpstr>
      <vt:lpstr>Some Examples</vt:lpstr>
      <vt:lpstr>https://detectfakes.kellogg.northwestern.edu/ What is our score:</vt:lpstr>
      <vt:lpstr>Privacy concerns with Facebook </vt:lpstr>
      <vt:lpstr>Thirsty for Power and Water </vt:lpstr>
      <vt:lpstr>Obama’s effort to ‘nudge’ America </vt:lpstr>
      <vt:lpstr>Obama’s effort to ‘nudge’ America </vt:lpstr>
      <vt:lpstr>What is Bias and Fairness in LLMs? Bias in AI refers to systematic errors or tendencies that a model might make regarding its predictions that unfairly favour one group and disadvantage another.   </vt:lpstr>
      <vt:lpstr>Pilot and Leader: Any Bias?</vt:lpstr>
      <vt:lpstr>Why We Need Technology Regulation </vt:lpstr>
      <vt:lpstr>The EU Artificial Intelligence (AI) Act  The AI Act is the first comprehensive regulation on artificial intelligence introduced by a major global regulator — the European Union. It aims to ensure that AI technologies are safe, transparent, and aligned with fundamental rights.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Rabab Abumalloh</dc:creator>
  <cp:lastModifiedBy>Rabab Abumalloh</cp:lastModifiedBy>
  <cp:revision>7</cp:revision>
  <dcterms:created xsi:type="dcterms:W3CDTF">2025-10-15T06:42:44Z</dcterms:created>
  <dcterms:modified xsi:type="dcterms:W3CDTF">2026-01-18T17:20:20Z</dcterms:modified>
</cp:coreProperties>
</file>